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diagrams/data7.xml" ContentType="application/vnd.openxmlformats-officedocument.drawingml.diagramData+xml"/>
  <Override PartName="/ppt/diagrams/data6.xml" ContentType="application/vnd.openxmlformats-officedocument.drawingml.diagramData+xml"/>
  <Override PartName="/ppt/diagrams/data1.xml" ContentType="application/vnd.openxmlformats-officedocument.drawingml.diagramData+xml"/>
  <Override PartName="/ppt/presentation.xml" ContentType="application/vnd.openxmlformats-officedocument.presentationml.presentation.main+xml"/>
  <Override PartName="/ppt/diagrams/data5.xml" ContentType="application/vnd.openxmlformats-officedocument.drawingml.diagramData+xml"/>
  <Override PartName="/ppt/diagrams/data4.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heme/theme2.xml" ContentType="application/vnd.openxmlformats-officedocument.theme+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layout5.xml" ContentType="application/vnd.openxmlformats-officedocument.drawingml.diagramLayout+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diagrams/layout1.xml" ContentType="application/vnd.openxmlformats-officedocument.drawingml.diagramLayout+xml"/>
  <Override PartName="/ppt/diagrams/quickStyle1.xml" ContentType="application/vnd.openxmlformats-officedocument.drawingml.diagramStyle+xml"/>
  <Override PartName="/ppt/diagrams/drawing4.xml" ContentType="application/vnd.ms-office.drawingml.diagramDrawing+xml"/>
  <Override PartName="/ppt/diagrams/colors4.xml" ContentType="application/vnd.openxmlformats-officedocument.drawingml.diagramColors+xml"/>
  <Override PartName="/ppt/diagrams/quickStyle4.xml" ContentType="application/vnd.openxmlformats-officedocument.drawingml.diagramStyle+xml"/>
  <Override PartName="/ppt/diagrams/layout4.xml" ContentType="application/vnd.openxmlformats-officedocument.drawingml.diagramLayout+xml"/>
  <Override PartName="/ppt/diagrams/colors1.xml" ContentType="application/vnd.openxmlformats-officedocument.drawingml.diagramColors+xml"/>
  <Override PartName="/ppt/theme/theme1.xml" ContentType="application/vnd.openxmlformats-officedocument.theme+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diagrams/layout3.xml" ContentType="application/vnd.openxmlformats-officedocument.drawingml.diagramLayout+xml"/>
  <Override PartName="/ppt/diagrams/drawing1.xml" ContentType="application/vnd.ms-office.drawingml.diagramDrawing+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notesMasters/notesMaster1.xml" ContentType="application/vnd.openxmlformats-officedocument.presentationml.notesMaster+xml"/>
  <Override PartName="/ppt/diagrams/layout2.xml" ContentType="application/vnd.openxmlformats-officedocument.drawingml.diagramLayout+xml"/>
  <Override PartName="/ppt/diagrams/layout7.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6" r:id="rId3"/>
    <p:sldId id="278" r:id="rId4"/>
    <p:sldId id="279" r:id="rId5"/>
    <p:sldId id="258" r:id="rId6"/>
    <p:sldId id="260" r:id="rId7"/>
    <p:sldId id="259" r:id="rId8"/>
    <p:sldId id="268" r:id="rId9"/>
    <p:sldId id="269" r:id="rId10"/>
    <p:sldId id="271" r:id="rId11"/>
    <p:sldId id="272" r:id="rId12"/>
    <p:sldId id="266" r:id="rId13"/>
    <p:sldId id="26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03"/>
    <p:restoredTop sz="63374"/>
  </p:normalViewPr>
  <p:slideViewPr>
    <p:cSldViewPr snapToGrid="0" snapToObjects="1">
      <p:cViewPr varScale="1">
        <p:scale>
          <a:sx n="78" d="100"/>
          <a:sy n="78" d="100"/>
        </p:scale>
        <p:origin x="239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1F8EA9-186B-45A7-A399-ACF3DDF2AA35}" type="doc">
      <dgm:prSet loTypeId="urn:microsoft.com/office/officeart/2005/8/layout/process5" loCatId="process" qsTypeId="urn:microsoft.com/office/officeart/2005/8/quickstyle/simple1" qsCatId="simple" csTypeId="urn:microsoft.com/office/officeart/2005/8/colors/accent2_2" csCatId="accent2" phldr="1"/>
      <dgm:spPr/>
      <dgm:t>
        <a:bodyPr/>
        <a:lstStyle/>
        <a:p>
          <a:endParaRPr lang="en-US"/>
        </a:p>
      </dgm:t>
    </dgm:pt>
    <dgm:pt modelId="{CE5C26BF-5D50-4D3C-B920-E59015D8E01C}">
      <dgm:prSet/>
      <dgm:spPr/>
      <dgm:t>
        <a:bodyPr/>
        <a:lstStyle/>
        <a:p>
          <a:r>
            <a:rPr lang="en-CA"/>
            <a:t>In the brain, </a:t>
          </a:r>
          <a:r>
            <a:rPr lang="en-CA" b="1"/>
            <a:t>dopamine</a:t>
          </a:r>
          <a:r>
            <a:rPr lang="en-CA"/>
            <a:t> is a </a:t>
          </a:r>
          <a:r>
            <a:rPr lang="en-CA" b="1"/>
            <a:t>chemical messenger (neurotransmitter)</a:t>
          </a:r>
          <a:r>
            <a:rPr lang="en-CA"/>
            <a:t> involved in </a:t>
          </a:r>
          <a:r>
            <a:rPr lang="en-CA" b="1"/>
            <a:t>pleasure, motivation, and reward</a:t>
          </a:r>
          <a:r>
            <a:rPr lang="en-CA"/>
            <a:t>.</a:t>
          </a:r>
          <a:endParaRPr lang="en-US"/>
        </a:p>
      </dgm:t>
    </dgm:pt>
    <dgm:pt modelId="{4B7CD06D-9644-47AA-9103-4947F45B7456}" type="parTrans" cxnId="{F4D35068-E363-445C-A435-D42D280A57A5}">
      <dgm:prSet/>
      <dgm:spPr/>
      <dgm:t>
        <a:bodyPr/>
        <a:lstStyle/>
        <a:p>
          <a:endParaRPr lang="en-US"/>
        </a:p>
      </dgm:t>
    </dgm:pt>
    <dgm:pt modelId="{FA8EEB6E-CD32-459C-8FC9-E976BD3C877A}" type="sibTrans" cxnId="{F4D35068-E363-445C-A435-D42D280A57A5}">
      <dgm:prSet/>
      <dgm:spPr/>
      <dgm:t>
        <a:bodyPr/>
        <a:lstStyle/>
        <a:p>
          <a:endParaRPr lang="en-US"/>
        </a:p>
      </dgm:t>
    </dgm:pt>
    <dgm:pt modelId="{CF6168B6-6D01-4755-BA3E-BD735617D8CE}">
      <dgm:prSet/>
      <dgm:spPr/>
      <dgm:t>
        <a:bodyPr/>
        <a:lstStyle/>
        <a:p>
          <a:r>
            <a:rPr lang="en-CA"/>
            <a:t>Dopamine is released by neurons into a small space called the </a:t>
          </a:r>
          <a:r>
            <a:rPr lang="en-CA" b="1"/>
            <a:t>synapse</a:t>
          </a:r>
          <a:r>
            <a:rPr lang="en-CA"/>
            <a:t> (a gap between neurons).</a:t>
          </a:r>
          <a:endParaRPr lang="en-US"/>
        </a:p>
      </dgm:t>
    </dgm:pt>
    <dgm:pt modelId="{E80412A3-259F-43A2-B55B-509E3FC2B4B1}" type="parTrans" cxnId="{593F5B00-88CF-4BD5-A64B-70D638C6FACF}">
      <dgm:prSet/>
      <dgm:spPr/>
      <dgm:t>
        <a:bodyPr/>
        <a:lstStyle/>
        <a:p>
          <a:endParaRPr lang="en-US"/>
        </a:p>
      </dgm:t>
    </dgm:pt>
    <dgm:pt modelId="{29F3FE0C-DB62-497A-A82A-45BDF5DCB82F}" type="sibTrans" cxnId="{593F5B00-88CF-4BD5-A64B-70D638C6FACF}">
      <dgm:prSet/>
      <dgm:spPr/>
      <dgm:t>
        <a:bodyPr/>
        <a:lstStyle/>
        <a:p>
          <a:endParaRPr lang="en-US"/>
        </a:p>
      </dgm:t>
    </dgm:pt>
    <dgm:pt modelId="{F7099B3B-35AC-46F6-9A35-1862140B46EE}">
      <dgm:prSet/>
      <dgm:spPr/>
      <dgm:t>
        <a:bodyPr/>
        <a:lstStyle/>
        <a:p>
          <a:r>
            <a:rPr lang="en-CA"/>
            <a:t>Once it delivers its message, dopamine is </a:t>
          </a:r>
          <a:r>
            <a:rPr lang="en-CA" b="1"/>
            <a:t>recycled</a:t>
          </a:r>
          <a:r>
            <a:rPr lang="en-CA"/>
            <a:t> — it's taken back up into the neuron that released it by a special protein called the </a:t>
          </a:r>
          <a:r>
            <a:rPr lang="en-CA" b="1"/>
            <a:t>dopamine transporter (DAT)</a:t>
          </a:r>
          <a:r>
            <a:rPr lang="en-CA"/>
            <a:t>.</a:t>
          </a:r>
          <a:endParaRPr lang="en-US"/>
        </a:p>
      </dgm:t>
    </dgm:pt>
    <dgm:pt modelId="{DD00AB99-1EC5-41E4-A448-FC30775C0572}" type="parTrans" cxnId="{9E3AB7C5-BE76-46A3-8844-61F560DED428}">
      <dgm:prSet/>
      <dgm:spPr/>
      <dgm:t>
        <a:bodyPr/>
        <a:lstStyle/>
        <a:p>
          <a:endParaRPr lang="en-US"/>
        </a:p>
      </dgm:t>
    </dgm:pt>
    <dgm:pt modelId="{0A59E51C-C960-4169-92C9-F802D0514194}" type="sibTrans" cxnId="{9E3AB7C5-BE76-46A3-8844-61F560DED428}">
      <dgm:prSet/>
      <dgm:spPr/>
      <dgm:t>
        <a:bodyPr/>
        <a:lstStyle/>
        <a:p>
          <a:endParaRPr lang="en-US"/>
        </a:p>
      </dgm:t>
    </dgm:pt>
    <dgm:pt modelId="{F9E30545-8376-7748-9B30-4BBA4BEC7618}" type="pres">
      <dgm:prSet presAssocID="{971F8EA9-186B-45A7-A399-ACF3DDF2AA35}" presName="diagram" presStyleCnt="0">
        <dgm:presLayoutVars>
          <dgm:dir/>
          <dgm:resizeHandles val="exact"/>
        </dgm:presLayoutVars>
      </dgm:prSet>
      <dgm:spPr/>
    </dgm:pt>
    <dgm:pt modelId="{2D005C04-D7A5-B341-A05D-D6F118D7D03C}" type="pres">
      <dgm:prSet presAssocID="{CE5C26BF-5D50-4D3C-B920-E59015D8E01C}" presName="node" presStyleLbl="node1" presStyleIdx="0" presStyleCnt="3" custLinFactNeighborX="-6600" custLinFactNeighborY="487">
        <dgm:presLayoutVars>
          <dgm:bulletEnabled val="1"/>
        </dgm:presLayoutVars>
      </dgm:prSet>
      <dgm:spPr/>
    </dgm:pt>
    <dgm:pt modelId="{BE2EC8C2-5CC5-1A44-9978-DA5993214918}" type="pres">
      <dgm:prSet presAssocID="{FA8EEB6E-CD32-459C-8FC9-E976BD3C877A}" presName="sibTrans" presStyleLbl="sibTrans2D1" presStyleIdx="0" presStyleCnt="2" custAng="6852" custFlipVert="1" custScaleX="89423" custScaleY="36924"/>
      <dgm:spPr/>
    </dgm:pt>
    <dgm:pt modelId="{0232ACE4-C15E-E242-9763-9B10291BFD45}" type="pres">
      <dgm:prSet presAssocID="{FA8EEB6E-CD32-459C-8FC9-E976BD3C877A}" presName="connectorText" presStyleLbl="sibTrans2D1" presStyleIdx="0" presStyleCnt="2"/>
      <dgm:spPr/>
    </dgm:pt>
    <dgm:pt modelId="{24DC417E-3B16-EB46-B9D5-9B07A65D2A67}" type="pres">
      <dgm:prSet presAssocID="{CF6168B6-6D01-4755-BA3E-BD735617D8CE}" presName="node" presStyleLbl="node1" presStyleIdx="1" presStyleCnt="3">
        <dgm:presLayoutVars>
          <dgm:bulletEnabled val="1"/>
        </dgm:presLayoutVars>
      </dgm:prSet>
      <dgm:spPr/>
    </dgm:pt>
    <dgm:pt modelId="{91A7A059-BACF-C64F-817B-0D2054E642A1}" type="pres">
      <dgm:prSet presAssocID="{29F3FE0C-DB62-497A-A82A-45BDF5DCB82F}" presName="sibTrans" presStyleLbl="sibTrans2D1" presStyleIdx="1" presStyleCnt="2"/>
      <dgm:spPr/>
    </dgm:pt>
    <dgm:pt modelId="{4A1C5CF5-A510-024A-B0D0-19B8EA36D460}" type="pres">
      <dgm:prSet presAssocID="{29F3FE0C-DB62-497A-A82A-45BDF5DCB82F}" presName="connectorText" presStyleLbl="sibTrans2D1" presStyleIdx="1" presStyleCnt="2"/>
      <dgm:spPr/>
    </dgm:pt>
    <dgm:pt modelId="{2C5ACF5A-A171-6644-BD1F-DCF082135E87}" type="pres">
      <dgm:prSet presAssocID="{F7099B3B-35AC-46F6-9A35-1862140B46EE}" presName="node" presStyleLbl="node1" presStyleIdx="2" presStyleCnt="3">
        <dgm:presLayoutVars>
          <dgm:bulletEnabled val="1"/>
        </dgm:presLayoutVars>
      </dgm:prSet>
      <dgm:spPr/>
    </dgm:pt>
  </dgm:ptLst>
  <dgm:cxnLst>
    <dgm:cxn modelId="{593F5B00-88CF-4BD5-A64B-70D638C6FACF}" srcId="{971F8EA9-186B-45A7-A399-ACF3DDF2AA35}" destId="{CF6168B6-6D01-4755-BA3E-BD735617D8CE}" srcOrd="1" destOrd="0" parTransId="{E80412A3-259F-43A2-B55B-509E3FC2B4B1}" sibTransId="{29F3FE0C-DB62-497A-A82A-45BDF5DCB82F}"/>
    <dgm:cxn modelId="{B7CE1802-A054-5C44-B45F-B5453B70F015}" type="presOf" srcId="{971F8EA9-186B-45A7-A399-ACF3DDF2AA35}" destId="{F9E30545-8376-7748-9B30-4BBA4BEC7618}" srcOrd="0" destOrd="0" presId="urn:microsoft.com/office/officeart/2005/8/layout/process5"/>
    <dgm:cxn modelId="{9321DE11-21AB-D449-AE17-55FF1CB6CB12}" type="presOf" srcId="{CE5C26BF-5D50-4D3C-B920-E59015D8E01C}" destId="{2D005C04-D7A5-B341-A05D-D6F118D7D03C}" srcOrd="0" destOrd="0" presId="urn:microsoft.com/office/officeart/2005/8/layout/process5"/>
    <dgm:cxn modelId="{B40D9253-6728-CB41-961F-FBDF98F15835}" type="presOf" srcId="{CF6168B6-6D01-4755-BA3E-BD735617D8CE}" destId="{24DC417E-3B16-EB46-B9D5-9B07A65D2A67}" srcOrd="0" destOrd="0" presId="urn:microsoft.com/office/officeart/2005/8/layout/process5"/>
    <dgm:cxn modelId="{F734365C-C23F-2B43-949C-1F39BF138A15}" type="presOf" srcId="{FA8EEB6E-CD32-459C-8FC9-E976BD3C877A}" destId="{BE2EC8C2-5CC5-1A44-9978-DA5993214918}" srcOrd="0" destOrd="0" presId="urn:microsoft.com/office/officeart/2005/8/layout/process5"/>
    <dgm:cxn modelId="{F4D35068-E363-445C-A435-D42D280A57A5}" srcId="{971F8EA9-186B-45A7-A399-ACF3DDF2AA35}" destId="{CE5C26BF-5D50-4D3C-B920-E59015D8E01C}" srcOrd="0" destOrd="0" parTransId="{4B7CD06D-9644-47AA-9103-4947F45B7456}" sibTransId="{FA8EEB6E-CD32-459C-8FC9-E976BD3C877A}"/>
    <dgm:cxn modelId="{BC733B7A-21FF-6E40-B7A6-3B8B0515A4C4}" type="presOf" srcId="{FA8EEB6E-CD32-459C-8FC9-E976BD3C877A}" destId="{0232ACE4-C15E-E242-9763-9B10291BFD45}" srcOrd="1" destOrd="0" presId="urn:microsoft.com/office/officeart/2005/8/layout/process5"/>
    <dgm:cxn modelId="{08ABBA7F-A173-A646-9079-93E54F791AA9}" type="presOf" srcId="{F7099B3B-35AC-46F6-9A35-1862140B46EE}" destId="{2C5ACF5A-A171-6644-BD1F-DCF082135E87}" srcOrd="0" destOrd="0" presId="urn:microsoft.com/office/officeart/2005/8/layout/process5"/>
    <dgm:cxn modelId="{956ED49D-8C64-064A-9282-9A728614EEF3}" type="presOf" srcId="{29F3FE0C-DB62-497A-A82A-45BDF5DCB82F}" destId="{91A7A059-BACF-C64F-817B-0D2054E642A1}" srcOrd="0" destOrd="0" presId="urn:microsoft.com/office/officeart/2005/8/layout/process5"/>
    <dgm:cxn modelId="{9E3AB7C5-BE76-46A3-8844-61F560DED428}" srcId="{971F8EA9-186B-45A7-A399-ACF3DDF2AA35}" destId="{F7099B3B-35AC-46F6-9A35-1862140B46EE}" srcOrd="2" destOrd="0" parTransId="{DD00AB99-1EC5-41E4-A448-FC30775C0572}" sibTransId="{0A59E51C-C960-4169-92C9-F802D0514194}"/>
    <dgm:cxn modelId="{432B6CDE-E463-C543-A069-3E708033A44E}" type="presOf" srcId="{29F3FE0C-DB62-497A-A82A-45BDF5DCB82F}" destId="{4A1C5CF5-A510-024A-B0D0-19B8EA36D460}" srcOrd="1" destOrd="0" presId="urn:microsoft.com/office/officeart/2005/8/layout/process5"/>
    <dgm:cxn modelId="{2B6B859C-9681-6F48-83B6-EC016FD08E61}" type="presParOf" srcId="{F9E30545-8376-7748-9B30-4BBA4BEC7618}" destId="{2D005C04-D7A5-B341-A05D-D6F118D7D03C}" srcOrd="0" destOrd="0" presId="urn:microsoft.com/office/officeart/2005/8/layout/process5"/>
    <dgm:cxn modelId="{9020BD99-6200-B444-BD3E-D09F915E99FC}" type="presParOf" srcId="{F9E30545-8376-7748-9B30-4BBA4BEC7618}" destId="{BE2EC8C2-5CC5-1A44-9978-DA5993214918}" srcOrd="1" destOrd="0" presId="urn:microsoft.com/office/officeart/2005/8/layout/process5"/>
    <dgm:cxn modelId="{40A9B330-5283-0D4C-A86C-A72BD319387D}" type="presParOf" srcId="{BE2EC8C2-5CC5-1A44-9978-DA5993214918}" destId="{0232ACE4-C15E-E242-9763-9B10291BFD45}" srcOrd="0" destOrd="0" presId="urn:microsoft.com/office/officeart/2005/8/layout/process5"/>
    <dgm:cxn modelId="{83D124EC-5F3D-5947-ADBF-B86EECC60944}" type="presParOf" srcId="{F9E30545-8376-7748-9B30-4BBA4BEC7618}" destId="{24DC417E-3B16-EB46-B9D5-9B07A65D2A67}" srcOrd="2" destOrd="0" presId="urn:microsoft.com/office/officeart/2005/8/layout/process5"/>
    <dgm:cxn modelId="{B05E054D-1C57-A042-87BE-FE2A9A45E246}" type="presParOf" srcId="{F9E30545-8376-7748-9B30-4BBA4BEC7618}" destId="{91A7A059-BACF-C64F-817B-0D2054E642A1}" srcOrd="3" destOrd="0" presId="urn:microsoft.com/office/officeart/2005/8/layout/process5"/>
    <dgm:cxn modelId="{1B9FB99B-D006-684B-B8C9-B64E405F2D49}" type="presParOf" srcId="{91A7A059-BACF-C64F-817B-0D2054E642A1}" destId="{4A1C5CF5-A510-024A-B0D0-19B8EA36D460}" srcOrd="0" destOrd="0" presId="urn:microsoft.com/office/officeart/2005/8/layout/process5"/>
    <dgm:cxn modelId="{886BE20F-E471-D14A-B021-C14649CE66B2}" type="presParOf" srcId="{F9E30545-8376-7748-9B30-4BBA4BEC7618}" destId="{2C5ACF5A-A171-6644-BD1F-DCF082135E87}"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6D8BEE-5F62-4759-8A04-1A29C1420DF7}"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33F8D069-281A-4E8A-8E7F-F2043252FDBF}">
      <dgm:prSet/>
      <dgm:spPr/>
      <dgm:t>
        <a:bodyPr/>
        <a:lstStyle/>
        <a:p>
          <a:pPr>
            <a:lnSpc>
              <a:spcPct val="100000"/>
            </a:lnSpc>
          </a:pPr>
          <a:r>
            <a:rPr lang="en-CA" dirty="0"/>
            <a:t>Over time, the brain </a:t>
          </a:r>
          <a:r>
            <a:rPr lang="en-CA" b="1" dirty="0"/>
            <a:t>adapts</a:t>
          </a:r>
          <a:endParaRPr lang="en-US" dirty="0"/>
        </a:p>
      </dgm:t>
    </dgm:pt>
    <dgm:pt modelId="{12711FC5-F891-4FAA-A0E8-801F483D07FF}" type="parTrans" cxnId="{F871EF5A-3C3E-4394-A94C-6F6BE874044B}">
      <dgm:prSet/>
      <dgm:spPr/>
      <dgm:t>
        <a:bodyPr/>
        <a:lstStyle/>
        <a:p>
          <a:endParaRPr lang="en-US"/>
        </a:p>
      </dgm:t>
    </dgm:pt>
    <dgm:pt modelId="{4677F5F8-4FBF-4E10-8B37-E58FD644967E}" type="sibTrans" cxnId="{F871EF5A-3C3E-4394-A94C-6F6BE874044B}">
      <dgm:prSet/>
      <dgm:spPr/>
      <dgm:t>
        <a:bodyPr/>
        <a:lstStyle/>
        <a:p>
          <a:endParaRPr lang="en-US"/>
        </a:p>
      </dgm:t>
    </dgm:pt>
    <dgm:pt modelId="{C9CEB47D-430D-4AEA-8CD7-95A2691D2588}">
      <dgm:prSet>
        <dgm:style>
          <a:lnRef idx="2">
            <a:schemeClr val="accent2"/>
          </a:lnRef>
          <a:fillRef idx="1">
            <a:schemeClr val="lt1"/>
          </a:fillRef>
          <a:effectRef idx="0">
            <a:schemeClr val="accent2"/>
          </a:effectRef>
          <a:fontRef idx="minor">
            <a:schemeClr val="dk1"/>
          </a:fontRef>
        </dgm:style>
      </dgm:prSet>
      <dgm:spPr>
        <a:noFill/>
      </dgm:spPr>
      <dgm:t>
        <a:bodyPr/>
        <a:lstStyle/>
        <a:p>
          <a:pPr>
            <a:lnSpc>
              <a:spcPct val="100000"/>
            </a:lnSpc>
          </a:pPr>
          <a:r>
            <a:rPr lang="en-CA" dirty="0"/>
            <a:t>This leads to </a:t>
          </a:r>
          <a:r>
            <a:rPr lang="en-CA" b="1" dirty="0"/>
            <a:t>tolerance, craving</a:t>
          </a:r>
          <a:r>
            <a:rPr lang="en-CA" dirty="0"/>
            <a:t>, and a </a:t>
          </a:r>
          <a:r>
            <a:rPr lang="en-CA" b="1" dirty="0"/>
            <a:t>cycle of addiction</a:t>
          </a:r>
          <a:r>
            <a:rPr lang="en-CA" dirty="0"/>
            <a:t>.</a:t>
          </a:r>
          <a:endParaRPr lang="en-US" dirty="0"/>
        </a:p>
      </dgm:t>
    </dgm:pt>
    <dgm:pt modelId="{A0D95033-2439-4243-A048-B40E25509698}" type="parTrans" cxnId="{64B40051-7173-407F-90D8-1B776CC74FF6}">
      <dgm:prSet/>
      <dgm:spPr/>
      <dgm:t>
        <a:bodyPr/>
        <a:lstStyle/>
        <a:p>
          <a:endParaRPr lang="en-US"/>
        </a:p>
      </dgm:t>
    </dgm:pt>
    <dgm:pt modelId="{0CBF096F-E0F5-4D30-B345-12825DC964AB}" type="sibTrans" cxnId="{64B40051-7173-407F-90D8-1B776CC74FF6}">
      <dgm:prSet/>
      <dgm:spPr/>
      <dgm:t>
        <a:bodyPr/>
        <a:lstStyle/>
        <a:p>
          <a:endParaRPr lang="en-US"/>
        </a:p>
      </dgm:t>
    </dgm:pt>
    <dgm:pt modelId="{4DF00F9D-16D3-42FD-B9D8-EA2A2D062DA4}" type="pres">
      <dgm:prSet presAssocID="{1D6D8BEE-5F62-4759-8A04-1A29C1420DF7}" presName="root" presStyleCnt="0">
        <dgm:presLayoutVars>
          <dgm:dir/>
          <dgm:resizeHandles val="exact"/>
        </dgm:presLayoutVars>
      </dgm:prSet>
      <dgm:spPr/>
    </dgm:pt>
    <dgm:pt modelId="{37E629DB-3844-4A13-B48D-B632AF45692C}" type="pres">
      <dgm:prSet presAssocID="{33F8D069-281A-4E8A-8E7F-F2043252FDBF}" presName="compNode" presStyleCnt="0"/>
      <dgm:spPr/>
    </dgm:pt>
    <dgm:pt modelId="{555AB4A1-11F0-4E38-A64E-CBC96BA35014}" type="pres">
      <dgm:prSet presAssocID="{33F8D069-281A-4E8A-8E7F-F2043252FDBF}" presName="bgRect" presStyleLbl="bgShp" presStyleIdx="0" presStyleCnt="2"/>
      <dgm:spPr/>
    </dgm:pt>
    <dgm:pt modelId="{0C529B42-1446-493F-ADAA-582F1D6BC6CC}" type="pres">
      <dgm:prSet presAssocID="{33F8D069-281A-4E8A-8E7F-F2043252FDB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a:ext>
      </dgm:extLst>
    </dgm:pt>
    <dgm:pt modelId="{E723FF91-16EB-4AF8-AC97-B7310154367D}" type="pres">
      <dgm:prSet presAssocID="{33F8D069-281A-4E8A-8E7F-F2043252FDBF}" presName="spaceRect" presStyleCnt="0"/>
      <dgm:spPr/>
    </dgm:pt>
    <dgm:pt modelId="{20AFAB5B-6DF8-4410-A905-C037BF4064E1}" type="pres">
      <dgm:prSet presAssocID="{33F8D069-281A-4E8A-8E7F-F2043252FDBF}" presName="parTx" presStyleLbl="revTx" presStyleIdx="0" presStyleCnt="2">
        <dgm:presLayoutVars>
          <dgm:chMax val="0"/>
          <dgm:chPref val="0"/>
        </dgm:presLayoutVars>
      </dgm:prSet>
      <dgm:spPr/>
    </dgm:pt>
    <dgm:pt modelId="{3095CA8A-9CA3-4110-864C-8273B72C9D44}" type="pres">
      <dgm:prSet presAssocID="{4677F5F8-4FBF-4E10-8B37-E58FD644967E}" presName="sibTrans" presStyleCnt="0"/>
      <dgm:spPr/>
    </dgm:pt>
    <dgm:pt modelId="{51C20C88-370F-4147-9FC7-3BF17294B41E}" type="pres">
      <dgm:prSet presAssocID="{C9CEB47D-430D-4AEA-8CD7-95A2691D2588}" presName="compNode" presStyleCnt="0"/>
      <dgm:spPr/>
    </dgm:pt>
    <dgm:pt modelId="{8D12441F-BE7E-494B-9E50-103B42A7A2F8}" type="pres">
      <dgm:prSet presAssocID="{C9CEB47D-430D-4AEA-8CD7-95A2691D2588}" presName="bgRect" presStyleLbl="bgShp" presStyleIdx="1" presStyleCnt="2"/>
      <dgm:spPr/>
    </dgm:pt>
    <dgm:pt modelId="{D3D90FF4-0807-438F-AA91-D7FA3965F99C}" type="pres">
      <dgm:prSet presAssocID="{C9CEB47D-430D-4AEA-8CD7-95A2691D2588}" presName="iconRect" presStyleLbl="node1" presStyleIdx="1" presStyleCnt="2" custLinFactNeighborX="2547" custLinFactNeighborY="933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ttle"/>
        </a:ext>
      </dgm:extLst>
    </dgm:pt>
    <dgm:pt modelId="{58F60E83-C5B9-4DDC-B5A0-215F0F44DB29}" type="pres">
      <dgm:prSet presAssocID="{C9CEB47D-430D-4AEA-8CD7-95A2691D2588}" presName="spaceRect" presStyleCnt="0"/>
      <dgm:spPr/>
    </dgm:pt>
    <dgm:pt modelId="{14402187-26BB-4483-AE4D-4910B1A81692}" type="pres">
      <dgm:prSet presAssocID="{C9CEB47D-430D-4AEA-8CD7-95A2691D2588}" presName="parTx" presStyleLbl="revTx" presStyleIdx="1" presStyleCnt="2">
        <dgm:presLayoutVars>
          <dgm:chMax val="0"/>
          <dgm:chPref val="0"/>
        </dgm:presLayoutVars>
      </dgm:prSet>
      <dgm:spPr/>
    </dgm:pt>
  </dgm:ptLst>
  <dgm:cxnLst>
    <dgm:cxn modelId="{FA9B6924-7FE2-2B4B-9D19-A0DE9755C94F}" type="presOf" srcId="{C9CEB47D-430D-4AEA-8CD7-95A2691D2588}" destId="{14402187-26BB-4483-AE4D-4910B1A81692}" srcOrd="0" destOrd="0" presId="urn:microsoft.com/office/officeart/2018/2/layout/IconVerticalSolidList"/>
    <dgm:cxn modelId="{2AA40549-E317-CE4B-B89C-BED44565E78F}" type="presOf" srcId="{1D6D8BEE-5F62-4759-8A04-1A29C1420DF7}" destId="{4DF00F9D-16D3-42FD-B9D8-EA2A2D062DA4}" srcOrd="0" destOrd="0" presId="urn:microsoft.com/office/officeart/2018/2/layout/IconVerticalSolidList"/>
    <dgm:cxn modelId="{64B40051-7173-407F-90D8-1B776CC74FF6}" srcId="{1D6D8BEE-5F62-4759-8A04-1A29C1420DF7}" destId="{C9CEB47D-430D-4AEA-8CD7-95A2691D2588}" srcOrd="1" destOrd="0" parTransId="{A0D95033-2439-4243-A048-B40E25509698}" sibTransId="{0CBF096F-E0F5-4D30-B345-12825DC964AB}"/>
    <dgm:cxn modelId="{F871EF5A-3C3E-4394-A94C-6F6BE874044B}" srcId="{1D6D8BEE-5F62-4759-8A04-1A29C1420DF7}" destId="{33F8D069-281A-4E8A-8E7F-F2043252FDBF}" srcOrd="0" destOrd="0" parTransId="{12711FC5-F891-4FAA-A0E8-801F483D07FF}" sibTransId="{4677F5F8-4FBF-4E10-8B37-E58FD644967E}"/>
    <dgm:cxn modelId="{8D286F69-8435-7045-8C53-A20F564D9020}" type="presOf" srcId="{33F8D069-281A-4E8A-8E7F-F2043252FDBF}" destId="{20AFAB5B-6DF8-4410-A905-C037BF4064E1}" srcOrd="0" destOrd="0" presId="urn:microsoft.com/office/officeart/2018/2/layout/IconVerticalSolidList"/>
    <dgm:cxn modelId="{F0DADB0F-55D6-8945-8804-9623A194AF15}" type="presParOf" srcId="{4DF00F9D-16D3-42FD-B9D8-EA2A2D062DA4}" destId="{37E629DB-3844-4A13-B48D-B632AF45692C}" srcOrd="0" destOrd="0" presId="urn:microsoft.com/office/officeart/2018/2/layout/IconVerticalSolidList"/>
    <dgm:cxn modelId="{2CBE1E8E-611B-164C-98FD-3C2B4A63389B}" type="presParOf" srcId="{37E629DB-3844-4A13-B48D-B632AF45692C}" destId="{555AB4A1-11F0-4E38-A64E-CBC96BA35014}" srcOrd="0" destOrd="0" presId="urn:microsoft.com/office/officeart/2018/2/layout/IconVerticalSolidList"/>
    <dgm:cxn modelId="{21138073-A35F-7F4F-990F-E2ACCBBB555F}" type="presParOf" srcId="{37E629DB-3844-4A13-B48D-B632AF45692C}" destId="{0C529B42-1446-493F-ADAA-582F1D6BC6CC}" srcOrd="1" destOrd="0" presId="urn:microsoft.com/office/officeart/2018/2/layout/IconVerticalSolidList"/>
    <dgm:cxn modelId="{6B5CD76A-3FB3-904E-8268-99CE2D6CF8EE}" type="presParOf" srcId="{37E629DB-3844-4A13-B48D-B632AF45692C}" destId="{E723FF91-16EB-4AF8-AC97-B7310154367D}" srcOrd="2" destOrd="0" presId="urn:microsoft.com/office/officeart/2018/2/layout/IconVerticalSolidList"/>
    <dgm:cxn modelId="{6553EAC7-F1B7-B546-A3D6-DF71F2C8565F}" type="presParOf" srcId="{37E629DB-3844-4A13-B48D-B632AF45692C}" destId="{20AFAB5B-6DF8-4410-A905-C037BF4064E1}" srcOrd="3" destOrd="0" presId="urn:microsoft.com/office/officeart/2018/2/layout/IconVerticalSolidList"/>
    <dgm:cxn modelId="{3C33145C-74B7-3C4B-AEE5-D3D091132C96}" type="presParOf" srcId="{4DF00F9D-16D3-42FD-B9D8-EA2A2D062DA4}" destId="{3095CA8A-9CA3-4110-864C-8273B72C9D44}" srcOrd="1" destOrd="0" presId="urn:microsoft.com/office/officeart/2018/2/layout/IconVerticalSolidList"/>
    <dgm:cxn modelId="{35C2856A-8DD8-9542-BEA3-57137301FDB4}" type="presParOf" srcId="{4DF00F9D-16D3-42FD-B9D8-EA2A2D062DA4}" destId="{51C20C88-370F-4147-9FC7-3BF17294B41E}" srcOrd="2" destOrd="0" presId="urn:microsoft.com/office/officeart/2018/2/layout/IconVerticalSolidList"/>
    <dgm:cxn modelId="{E4FDA8CC-DB59-6342-8C38-AE1B3A40E09D}" type="presParOf" srcId="{51C20C88-370F-4147-9FC7-3BF17294B41E}" destId="{8D12441F-BE7E-494B-9E50-103B42A7A2F8}" srcOrd="0" destOrd="0" presId="urn:microsoft.com/office/officeart/2018/2/layout/IconVerticalSolidList"/>
    <dgm:cxn modelId="{EFE61277-6950-964D-A350-990783D0285E}" type="presParOf" srcId="{51C20C88-370F-4147-9FC7-3BF17294B41E}" destId="{D3D90FF4-0807-438F-AA91-D7FA3965F99C}" srcOrd="1" destOrd="0" presId="urn:microsoft.com/office/officeart/2018/2/layout/IconVerticalSolidList"/>
    <dgm:cxn modelId="{F60A5C3A-EE2C-7649-9A83-CC7DEECD772E}" type="presParOf" srcId="{51C20C88-370F-4147-9FC7-3BF17294B41E}" destId="{58F60E83-C5B9-4DDC-B5A0-215F0F44DB29}" srcOrd="2" destOrd="0" presId="urn:microsoft.com/office/officeart/2018/2/layout/IconVerticalSolidList"/>
    <dgm:cxn modelId="{E2007590-C4ED-3F4A-954A-038B16C2FCF9}" type="presParOf" srcId="{51C20C88-370F-4147-9FC7-3BF17294B41E}" destId="{14402187-26BB-4483-AE4D-4910B1A81692}" srcOrd="3" destOrd="0" presId="urn:microsoft.com/office/officeart/2018/2/layout/IconVerticalSolid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4D51E7-3415-4C85-8D3C-4384349F9CE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82678C7-983B-403B-B5CB-70D0E1408404}">
      <dgm:prSet/>
      <dgm:spPr/>
      <dgm:t>
        <a:bodyPr/>
        <a:lstStyle/>
        <a:p>
          <a:pPr>
            <a:lnSpc>
              <a:spcPct val="100000"/>
            </a:lnSpc>
          </a:pPr>
          <a:r>
            <a:rPr lang="en-US"/>
            <a:t>1. Are there differences in dopamine-associated gene expression between male and female mice?</a:t>
          </a:r>
        </a:p>
      </dgm:t>
    </dgm:pt>
    <dgm:pt modelId="{9350E676-768D-4C23-AD07-08CBA6F1261D}" type="parTrans" cxnId="{AF6495ED-A742-47D4-86C8-BD036666381D}">
      <dgm:prSet/>
      <dgm:spPr/>
      <dgm:t>
        <a:bodyPr/>
        <a:lstStyle/>
        <a:p>
          <a:endParaRPr lang="en-US"/>
        </a:p>
      </dgm:t>
    </dgm:pt>
    <dgm:pt modelId="{CEFB6E9A-E343-4BE2-A871-2E4ED2A35ABF}" type="sibTrans" cxnId="{AF6495ED-A742-47D4-86C8-BD036666381D}">
      <dgm:prSet/>
      <dgm:spPr/>
      <dgm:t>
        <a:bodyPr/>
        <a:lstStyle/>
        <a:p>
          <a:endParaRPr lang="en-US"/>
        </a:p>
      </dgm:t>
    </dgm:pt>
    <dgm:pt modelId="{E13FB1DD-D80C-4DDA-84A8-91B132BF73FC}">
      <dgm:prSet/>
      <dgm:spPr/>
      <dgm:t>
        <a:bodyPr/>
        <a:lstStyle/>
        <a:p>
          <a:pPr>
            <a:lnSpc>
              <a:spcPct val="100000"/>
            </a:lnSpc>
          </a:pPr>
          <a:r>
            <a:rPr lang="en-US" dirty="0"/>
            <a:t>2. Are there gene expression differences </a:t>
          </a:r>
          <a:r>
            <a:rPr lang="en-CA" dirty="0"/>
            <a:t>of these genes </a:t>
          </a:r>
          <a:r>
            <a:rPr lang="en-US" b="1" dirty="0"/>
            <a:t>after 28 days of cocaine withdrawal?</a:t>
          </a:r>
        </a:p>
      </dgm:t>
    </dgm:pt>
    <dgm:pt modelId="{C761D357-49B1-4211-ADFC-3953FBF02A1F}" type="parTrans" cxnId="{84B4449C-60A1-4348-9E8B-BD6080838BAE}">
      <dgm:prSet/>
      <dgm:spPr/>
      <dgm:t>
        <a:bodyPr/>
        <a:lstStyle/>
        <a:p>
          <a:endParaRPr lang="en-US"/>
        </a:p>
      </dgm:t>
    </dgm:pt>
    <dgm:pt modelId="{475AAFE1-1444-48FD-B9BA-987BF8898B13}" type="sibTrans" cxnId="{84B4449C-60A1-4348-9E8B-BD6080838BAE}">
      <dgm:prSet/>
      <dgm:spPr/>
      <dgm:t>
        <a:bodyPr/>
        <a:lstStyle/>
        <a:p>
          <a:endParaRPr lang="en-US"/>
        </a:p>
      </dgm:t>
    </dgm:pt>
    <dgm:pt modelId="{102ADAA9-176C-42F6-9E7E-023D326408A2}" type="pres">
      <dgm:prSet presAssocID="{D74D51E7-3415-4C85-8D3C-4384349F9CEF}" presName="root" presStyleCnt="0">
        <dgm:presLayoutVars>
          <dgm:dir/>
          <dgm:resizeHandles val="exact"/>
        </dgm:presLayoutVars>
      </dgm:prSet>
      <dgm:spPr/>
    </dgm:pt>
    <dgm:pt modelId="{B3EBA3B0-917E-47A1-ABF9-79AA03F19C50}" type="pres">
      <dgm:prSet presAssocID="{A82678C7-983B-403B-B5CB-70D0E1408404}" presName="compNode" presStyleCnt="0"/>
      <dgm:spPr/>
    </dgm:pt>
    <dgm:pt modelId="{742DF08F-6AA9-4F2C-BC92-1ED02D01F2C3}" type="pres">
      <dgm:prSet presAssocID="{A82678C7-983B-403B-B5CB-70D0E1408404}" presName="bgRect" presStyleLbl="bgShp" presStyleIdx="0" presStyleCnt="2"/>
      <dgm:spPr/>
    </dgm:pt>
    <dgm:pt modelId="{F75E99AF-94C8-416E-8290-9A5FC1A28ADD}" type="pres">
      <dgm:prSet presAssocID="{A82678C7-983B-403B-B5CB-70D0E140840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t"/>
        </a:ext>
      </dgm:extLst>
    </dgm:pt>
    <dgm:pt modelId="{25BAC650-7FB7-4468-9A80-E28A11BD634E}" type="pres">
      <dgm:prSet presAssocID="{A82678C7-983B-403B-B5CB-70D0E1408404}" presName="spaceRect" presStyleCnt="0"/>
      <dgm:spPr/>
    </dgm:pt>
    <dgm:pt modelId="{15DEBF92-5412-4EE6-8B48-B3ED9AEFA32F}" type="pres">
      <dgm:prSet presAssocID="{A82678C7-983B-403B-B5CB-70D0E1408404}" presName="parTx" presStyleLbl="revTx" presStyleIdx="0" presStyleCnt="2">
        <dgm:presLayoutVars>
          <dgm:chMax val="0"/>
          <dgm:chPref val="0"/>
        </dgm:presLayoutVars>
      </dgm:prSet>
      <dgm:spPr/>
    </dgm:pt>
    <dgm:pt modelId="{F3BEEEF9-9B1C-4595-B6A9-56BF3E6679C9}" type="pres">
      <dgm:prSet presAssocID="{CEFB6E9A-E343-4BE2-A871-2E4ED2A35ABF}" presName="sibTrans" presStyleCnt="0"/>
      <dgm:spPr/>
    </dgm:pt>
    <dgm:pt modelId="{CDD2DACA-BA2F-445E-9155-683012AB52D6}" type="pres">
      <dgm:prSet presAssocID="{E13FB1DD-D80C-4DDA-84A8-91B132BF73FC}" presName="compNode" presStyleCnt="0"/>
      <dgm:spPr/>
    </dgm:pt>
    <dgm:pt modelId="{AC55B7F3-3DE1-4562-AC19-1C4047BE3201}" type="pres">
      <dgm:prSet presAssocID="{E13FB1DD-D80C-4DDA-84A8-91B132BF73FC}" presName="bgRect" presStyleLbl="bgShp" presStyleIdx="1" presStyleCnt="2"/>
      <dgm:spPr/>
    </dgm:pt>
    <dgm:pt modelId="{62D08A95-ED53-4D4D-8A5F-690D58627FC2}" type="pres">
      <dgm:prSet presAssocID="{E13FB1DD-D80C-4DDA-84A8-91B132BF73F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NA"/>
        </a:ext>
      </dgm:extLst>
    </dgm:pt>
    <dgm:pt modelId="{ED0DE9F8-DE37-4495-9DDD-2955140B6626}" type="pres">
      <dgm:prSet presAssocID="{E13FB1DD-D80C-4DDA-84A8-91B132BF73FC}" presName="spaceRect" presStyleCnt="0"/>
      <dgm:spPr/>
    </dgm:pt>
    <dgm:pt modelId="{AA2C5182-07A5-4DF9-80B7-263B7BE2C61C}" type="pres">
      <dgm:prSet presAssocID="{E13FB1DD-D80C-4DDA-84A8-91B132BF73FC}" presName="parTx" presStyleLbl="revTx" presStyleIdx="1" presStyleCnt="2">
        <dgm:presLayoutVars>
          <dgm:chMax val="0"/>
          <dgm:chPref val="0"/>
        </dgm:presLayoutVars>
      </dgm:prSet>
      <dgm:spPr/>
    </dgm:pt>
  </dgm:ptLst>
  <dgm:cxnLst>
    <dgm:cxn modelId="{42CC5E7D-7F67-A946-B381-A89F7142E7F7}" type="presOf" srcId="{D74D51E7-3415-4C85-8D3C-4384349F9CEF}" destId="{102ADAA9-176C-42F6-9E7E-023D326408A2}" srcOrd="0" destOrd="0" presId="urn:microsoft.com/office/officeart/2018/2/layout/IconVerticalSolidList"/>
    <dgm:cxn modelId="{84B4449C-60A1-4348-9E8B-BD6080838BAE}" srcId="{D74D51E7-3415-4C85-8D3C-4384349F9CEF}" destId="{E13FB1DD-D80C-4DDA-84A8-91B132BF73FC}" srcOrd="1" destOrd="0" parTransId="{C761D357-49B1-4211-ADFC-3953FBF02A1F}" sibTransId="{475AAFE1-1444-48FD-B9BA-987BF8898B13}"/>
    <dgm:cxn modelId="{C42D5EE2-5E62-B64E-B424-90F44984DB78}" type="presOf" srcId="{E13FB1DD-D80C-4DDA-84A8-91B132BF73FC}" destId="{AA2C5182-07A5-4DF9-80B7-263B7BE2C61C}" srcOrd="0" destOrd="0" presId="urn:microsoft.com/office/officeart/2018/2/layout/IconVerticalSolidList"/>
    <dgm:cxn modelId="{28A0F4E5-3F34-1643-8D71-C6962B563BC7}" type="presOf" srcId="{A82678C7-983B-403B-B5CB-70D0E1408404}" destId="{15DEBF92-5412-4EE6-8B48-B3ED9AEFA32F}" srcOrd="0" destOrd="0" presId="urn:microsoft.com/office/officeart/2018/2/layout/IconVerticalSolidList"/>
    <dgm:cxn modelId="{AF6495ED-A742-47D4-86C8-BD036666381D}" srcId="{D74D51E7-3415-4C85-8D3C-4384349F9CEF}" destId="{A82678C7-983B-403B-B5CB-70D0E1408404}" srcOrd="0" destOrd="0" parTransId="{9350E676-768D-4C23-AD07-08CBA6F1261D}" sibTransId="{CEFB6E9A-E343-4BE2-A871-2E4ED2A35ABF}"/>
    <dgm:cxn modelId="{11E768B9-0F02-1347-BC7D-99E296B3649A}" type="presParOf" srcId="{102ADAA9-176C-42F6-9E7E-023D326408A2}" destId="{B3EBA3B0-917E-47A1-ABF9-79AA03F19C50}" srcOrd="0" destOrd="0" presId="urn:microsoft.com/office/officeart/2018/2/layout/IconVerticalSolidList"/>
    <dgm:cxn modelId="{95EC0F43-55A1-A244-95B4-87FDF3B76F96}" type="presParOf" srcId="{B3EBA3B0-917E-47A1-ABF9-79AA03F19C50}" destId="{742DF08F-6AA9-4F2C-BC92-1ED02D01F2C3}" srcOrd="0" destOrd="0" presId="urn:microsoft.com/office/officeart/2018/2/layout/IconVerticalSolidList"/>
    <dgm:cxn modelId="{080E077A-1F47-3947-B32B-120E5F88622F}" type="presParOf" srcId="{B3EBA3B0-917E-47A1-ABF9-79AA03F19C50}" destId="{F75E99AF-94C8-416E-8290-9A5FC1A28ADD}" srcOrd="1" destOrd="0" presId="urn:microsoft.com/office/officeart/2018/2/layout/IconVerticalSolidList"/>
    <dgm:cxn modelId="{89205B5F-2CCA-E542-B48A-1A51FFD30016}" type="presParOf" srcId="{B3EBA3B0-917E-47A1-ABF9-79AA03F19C50}" destId="{25BAC650-7FB7-4468-9A80-E28A11BD634E}" srcOrd="2" destOrd="0" presId="urn:microsoft.com/office/officeart/2018/2/layout/IconVerticalSolidList"/>
    <dgm:cxn modelId="{91856C8D-7D20-804C-999B-14D92FA63520}" type="presParOf" srcId="{B3EBA3B0-917E-47A1-ABF9-79AA03F19C50}" destId="{15DEBF92-5412-4EE6-8B48-B3ED9AEFA32F}" srcOrd="3" destOrd="0" presId="urn:microsoft.com/office/officeart/2018/2/layout/IconVerticalSolidList"/>
    <dgm:cxn modelId="{F8A8194A-6FD9-7847-B641-50B87FEE2141}" type="presParOf" srcId="{102ADAA9-176C-42F6-9E7E-023D326408A2}" destId="{F3BEEEF9-9B1C-4595-B6A9-56BF3E6679C9}" srcOrd="1" destOrd="0" presId="urn:microsoft.com/office/officeart/2018/2/layout/IconVerticalSolidList"/>
    <dgm:cxn modelId="{F560388A-1467-A44F-9BC5-4ABC186E8988}" type="presParOf" srcId="{102ADAA9-176C-42F6-9E7E-023D326408A2}" destId="{CDD2DACA-BA2F-445E-9155-683012AB52D6}" srcOrd="2" destOrd="0" presId="urn:microsoft.com/office/officeart/2018/2/layout/IconVerticalSolidList"/>
    <dgm:cxn modelId="{4E639572-1D5D-EF43-A594-240714AC48CF}" type="presParOf" srcId="{CDD2DACA-BA2F-445E-9155-683012AB52D6}" destId="{AC55B7F3-3DE1-4562-AC19-1C4047BE3201}" srcOrd="0" destOrd="0" presId="urn:microsoft.com/office/officeart/2018/2/layout/IconVerticalSolidList"/>
    <dgm:cxn modelId="{C3A8BE51-2F71-474B-ACCB-571EE6E4247C}" type="presParOf" srcId="{CDD2DACA-BA2F-445E-9155-683012AB52D6}" destId="{62D08A95-ED53-4D4D-8A5F-690D58627FC2}" srcOrd="1" destOrd="0" presId="urn:microsoft.com/office/officeart/2018/2/layout/IconVerticalSolidList"/>
    <dgm:cxn modelId="{2CFD8BBD-195A-564D-A140-514023B2A748}" type="presParOf" srcId="{CDD2DACA-BA2F-445E-9155-683012AB52D6}" destId="{ED0DE9F8-DE37-4495-9DDD-2955140B6626}" srcOrd="2" destOrd="0" presId="urn:microsoft.com/office/officeart/2018/2/layout/IconVerticalSolidList"/>
    <dgm:cxn modelId="{EBC0B957-7828-CB4E-8DBA-0772B18DBE89}" type="presParOf" srcId="{CDD2DACA-BA2F-445E-9155-683012AB52D6}" destId="{AA2C5182-07A5-4DF9-80B7-263B7BE2C61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C3910E-B912-43EB-8230-053E745A4D9C}" type="doc">
      <dgm:prSet loTypeId="urn:microsoft.com/office/officeart/2005/8/layout/hierarchy1" loCatId="hierarchy" qsTypeId="urn:microsoft.com/office/officeart/2005/8/quickstyle/simple1" qsCatId="simple" csTypeId="urn:microsoft.com/office/officeart/2005/8/colors/accent2_2" csCatId="accent2"/>
      <dgm:spPr/>
      <dgm:t>
        <a:bodyPr/>
        <a:lstStyle/>
        <a:p>
          <a:endParaRPr lang="en-US"/>
        </a:p>
      </dgm:t>
    </dgm:pt>
    <dgm:pt modelId="{E7B35803-0D83-4063-A59A-0E9C5A8E4A0A}">
      <dgm:prSet/>
      <dgm:spPr/>
      <dgm:t>
        <a:bodyPr/>
        <a:lstStyle/>
        <a:p>
          <a:r>
            <a:rPr lang="en-US"/>
            <a:t>Tools: R, tidyverse, ggplot2.</a:t>
          </a:r>
        </a:p>
      </dgm:t>
    </dgm:pt>
    <dgm:pt modelId="{6AD5DDCD-C0FF-4D62-91D3-54A4691A7A9F}" type="parTrans" cxnId="{D1B2F86B-1668-4E75-BD34-40324F1BE04D}">
      <dgm:prSet/>
      <dgm:spPr/>
      <dgm:t>
        <a:bodyPr/>
        <a:lstStyle/>
        <a:p>
          <a:endParaRPr lang="en-US"/>
        </a:p>
      </dgm:t>
    </dgm:pt>
    <dgm:pt modelId="{5253625C-B05A-4251-98A1-17F7075E0885}" type="sibTrans" cxnId="{D1B2F86B-1668-4E75-BD34-40324F1BE04D}">
      <dgm:prSet/>
      <dgm:spPr/>
      <dgm:t>
        <a:bodyPr/>
        <a:lstStyle/>
        <a:p>
          <a:endParaRPr lang="en-US"/>
        </a:p>
      </dgm:t>
    </dgm:pt>
    <dgm:pt modelId="{3DDBAE03-9553-47AF-ACE9-C9C559362A87}">
      <dgm:prSet/>
      <dgm:spPr/>
      <dgm:t>
        <a:bodyPr/>
        <a:lstStyle/>
        <a:p>
          <a:r>
            <a:rPr lang="en-US"/>
            <a:t>Statistical Test: Linear model (lm) for Sex and Condition effects on expression.</a:t>
          </a:r>
        </a:p>
      </dgm:t>
    </dgm:pt>
    <dgm:pt modelId="{2AD3F8B9-01EC-4AEA-96C4-08E748AC93A0}" type="parTrans" cxnId="{83266AC7-06C6-4319-9A79-EABB3F802DD1}">
      <dgm:prSet/>
      <dgm:spPr/>
      <dgm:t>
        <a:bodyPr/>
        <a:lstStyle/>
        <a:p>
          <a:endParaRPr lang="en-US"/>
        </a:p>
      </dgm:t>
    </dgm:pt>
    <dgm:pt modelId="{31BF0CC3-AB72-41E2-8778-7378CD85AADA}" type="sibTrans" cxnId="{83266AC7-06C6-4319-9A79-EABB3F802DD1}">
      <dgm:prSet/>
      <dgm:spPr/>
      <dgm:t>
        <a:bodyPr/>
        <a:lstStyle/>
        <a:p>
          <a:endParaRPr lang="en-US"/>
        </a:p>
      </dgm:t>
    </dgm:pt>
    <dgm:pt modelId="{ADE27EC8-E543-2C43-B0BC-DC36C7C3185E}" type="pres">
      <dgm:prSet presAssocID="{52C3910E-B912-43EB-8230-053E745A4D9C}" presName="hierChild1" presStyleCnt="0">
        <dgm:presLayoutVars>
          <dgm:chPref val="1"/>
          <dgm:dir/>
          <dgm:animOne val="branch"/>
          <dgm:animLvl val="lvl"/>
          <dgm:resizeHandles/>
        </dgm:presLayoutVars>
      </dgm:prSet>
      <dgm:spPr/>
    </dgm:pt>
    <dgm:pt modelId="{DBD882A1-7797-E943-B5E4-1D094CE9B2F0}" type="pres">
      <dgm:prSet presAssocID="{E7B35803-0D83-4063-A59A-0E9C5A8E4A0A}" presName="hierRoot1" presStyleCnt="0"/>
      <dgm:spPr/>
    </dgm:pt>
    <dgm:pt modelId="{C3993BBB-70BD-4542-ADB5-7D0CA16DFB34}" type="pres">
      <dgm:prSet presAssocID="{E7B35803-0D83-4063-A59A-0E9C5A8E4A0A}" presName="composite" presStyleCnt="0"/>
      <dgm:spPr/>
    </dgm:pt>
    <dgm:pt modelId="{CB4AC9D4-13C3-EB43-8F05-0746B340C8F2}" type="pres">
      <dgm:prSet presAssocID="{E7B35803-0D83-4063-A59A-0E9C5A8E4A0A}" presName="background" presStyleLbl="node0" presStyleIdx="0" presStyleCnt="2"/>
      <dgm:spPr/>
    </dgm:pt>
    <dgm:pt modelId="{451C9822-C358-0242-9671-86FA822F6171}" type="pres">
      <dgm:prSet presAssocID="{E7B35803-0D83-4063-A59A-0E9C5A8E4A0A}" presName="text" presStyleLbl="fgAcc0" presStyleIdx="0" presStyleCnt="2">
        <dgm:presLayoutVars>
          <dgm:chPref val="3"/>
        </dgm:presLayoutVars>
      </dgm:prSet>
      <dgm:spPr/>
    </dgm:pt>
    <dgm:pt modelId="{DC7EF6A6-1FD7-0044-A03F-81DDC319794E}" type="pres">
      <dgm:prSet presAssocID="{E7B35803-0D83-4063-A59A-0E9C5A8E4A0A}" presName="hierChild2" presStyleCnt="0"/>
      <dgm:spPr/>
    </dgm:pt>
    <dgm:pt modelId="{07F8D52F-6CBA-2940-B690-66DC58C66769}" type="pres">
      <dgm:prSet presAssocID="{3DDBAE03-9553-47AF-ACE9-C9C559362A87}" presName="hierRoot1" presStyleCnt="0"/>
      <dgm:spPr/>
    </dgm:pt>
    <dgm:pt modelId="{D1DE8186-4D10-FD45-A3CD-B0989B1A9EAD}" type="pres">
      <dgm:prSet presAssocID="{3DDBAE03-9553-47AF-ACE9-C9C559362A87}" presName="composite" presStyleCnt="0"/>
      <dgm:spPr/>
    </dgm:pt>
    <dgm:pt modelId="{971694F4-BB49-2649-B315-9AC7655FA8C1}" type="pres">
      <dgm:prSet presAssocID="{3DDBAE03-9553-47AF-ACE9-C9C559362A87}" presName="background" presStyleLbl="node0" presStyleIdx="1" presStyleCnt="2"/>
      <dgm:spPr/>
    </dgm:pt>
    <dgm:pt modelId="{DB2A72AA-FB97-4B4F-BD08-1132DC8672C2}" type="pres">
      <dgm:prSet presAssocID="{3DDBAE03-9553-47AF-ACE9-C9C559362A87}" presName="text" presStyleLbl="fgAcc0" presStyleIdx="1" presStyleCnt="2">
        <dgm:presLayoutVars>
          <dgm:chPref val="3"/>
        </dgm:presLayoutVars>
      </dgm:prSet>
      <dgm:spPr/>
    </dgm:pt>
    <dgm:pt modelId="{0B245BDA-843F-F34F-A717-B241AD650089}" type="pres">
      <dgm:prSet presAssocID="{3DDBAE03-9553-47AF-ACE9-C9C559362A87}" presName="hierChild2" presStyleCnt="0"/>
      <dgm:spPr/>
    </dgm:pt>
  </dgm:ptLst>
  <dgm:cxnLst>
    <dgm:cxn modelId="{ED6BAE12-917E-8843-B86A-92C3ECD0D97D}" type="presOf" srcId="{3DDBAE03-9553-47AF-ACE9-C9C559362A87}" destId="{DB2A72AA-FB97-4B4F-BD08-1132DC8672C2}" srcOrd="0" destOrd="0" presId="urn:microsoft.com/office/officeart/2005/8/layout/hierarchy1"/>
    <dgm:cxn modelId="{84F82446-6F96-324C-A26F-A689857FDE0E}" type="presOf" srcId="{E7B35803-0D83-4063-A59A-0E9C5A8E4A0A}" destId="{451C9822-C358-0242-9671-86FA822F6171}" srcOrd="0" destOrd="0" presId="urn:microsoft.com/office/officeart/2005/8/layout/hierarchy1"/>
    <dgm:cxn modelId="{D1B2F86B-1668-4E75-BD34-40324F1BE04D}" srcId="{52C3910E-B912-43EB-8230-053E745A4D9C}" destId="{E7B35803-0D83-4063-A59A-0E9C5A8E4A0A}" srcOrd="0" destOrd="0" parTransId="{6AD5DDCD-C0FF-4D62-91D3-54A4691A7A9F}" sibTransId="{5253625C-B05A-4251-98A1-17F7075E0885}"/>
    <dgm:cxn modelId="{9DEA71BC-3346-0942-B734-41C007A24573}" type="presOf" srcId="{52C3910E-B912-43EB-8230-053E745A4D9C}" destId="{ADE27EC8-E543-2C43-B0BC-DC36C7C3185E}" srcOrd="0" destOrd="0" presId="urn:microsoft.com/office/officeart/2005/8/layout/hierarchy1"/>
    <dgm:cxn modelId="{83266AC7-06C6-4319-9A79-EABB3F802DD1}" srcId="{52C3910E-B912-43EB-8230-053E745A4D9C}" destId="{3DDBAE03-9553-47AF-ACE9-C9C559362A87}" srcOrd="1" destOrd="0" parTransId="{2AD3F8B9-01EC-4AEA-96C4-08E748AC93A0}" sibTransId="{31BF0CC3-AB72-41E2-8778-7378CD85AADA}"/>
    <dgm:cxn modelId="{EB904BAD-FDDF-4E49-865B-1B3B3DE9F815}" type="presParOf" srcId="{ADE27EC8-E543-2C43-B0BC-DC36C7C3185E}" destId="{DBD882A1-7797-E943-B5E4-1D094CE9B2F0}" srcOrd="0" destOrd="0" presId="urn:microsoft.com/office/officeart/2005/8/layout/hierarchy1"/>
    <dgm:cxn modelId="{EF74BC13-145E-9149-B47B-CBA3545164D7}" type="presParOf" srcId="{DBD882A1-7797-E943-B5E4-1D094CE9B2F0}" destId="{C3993BBB-70BD-4542-ADB5-7D0CA16DFB34}" srcOrd="0" destOrd="0" presId="urn:microsoft.com/office/officeart/2005/8/layout/hierarchy1"/>
    <dgm:cxn modelId="{27E46811-C157-0743-8F18-3571F810BADE}" type="presParOf" srcId="{C3993BBB-70BD-4542-ADB5-7D0CA16DFB34}" destId="{CB4AC9D4-13C3-EB43-8F05-0746B340C8F2}" srcOrd="0" destOrd="0" presId="urn:microsoft.com/office/officeart/2005/8/layout/hierarchy1"/>
    <dgm:cxn modelId="{FDBBB603-1784-4941-86D2-73BB2B05201B}" type="presParOf" srcId="{C3993BBB-70BD-4542-ADB5-7D0CA16DFB34}" destId="{451C9822-C358-0242-9671-86FA822F6171}" srcOrd="1" destOrd="0" presId="urn:microsoft.com/office/officeart/2005/8/layout/hierarchy1"/>
    <dgm:cxn modelId="{E04B4E7A-F663-194A-A99A-73741AA62270}" type="presParOf" srcId="{DBD882A1-7797-E943-B5E4-1D094CE9B2F0}" destId="{DC7EF6A6-1FD7-0044-A03F-81DDC319794E}" srcOrd="1" destOrd="0" presId="urn:microsoft.com/office/officeart/2005/8/layout/hierarchy1"/>
    <dgm:cxn modelId="{4FA3FA39-78F7-8A40-8EC1-EC9B89EAC0FB}" type="presParOf" srcId="{ADE27EC8-E543-2C43-B0BC-DC36C7C3185E}" destId="{07F8D52F-6CBA-2940-B690-66DC58C66769}" srcOrd="1" destOrd="0" presId="urn:microsoft.com/office/officeart/2005/8/layout/hierarchy1"/>
    <dgm:cxn modelId="{39E45AB4-D0C5-EF4E-8E22-372350671A21}" type="presParOf" srcId="{07F8D52F-6CBA-2940-B690-66DC58C66769}" destId="{D1DE8186-4D10-FD45-A3CD-B0989B1A9EAD}" srcOrd="0" destOrd="0" presId="urn:microsoft.com/office/officeart/2005/8/layout/hierarchy1"/>
    <dgm:cxn modelId="{7C14C742-4491-F04B-B18B-AAA65FF0D27F}" type="presParOf" srcId="{D1DE8186-4D10-FD45-A3CD-B0989B1A9EAD}" destId="{971694F4-BB49-2649-B315-9AC7655FA8C1}" srcOrd="0" destOrd="0" presId="urn:microsoft.com/office/officeart/2005/8/layout/hierarchy1"/>
    <dgm:cxn modelId="{F7CAC168-AA82-0841-8DE9-A55AA9D73CD2}" type="presParOf" srcId="{D1DE8186-4D10-FD45-A3CD-B0989B1A9EAD}" destId="{DB2A72AA-FB97-4B4F-BD08-1132DC8672C2}" srcOrd="1" destOrd="0" presId="urn:microsoft.com/office/officeart/2005/8/layout/hierarchy1"/>
    <dgm:cxn modelId="{D3194CB8-AB22-4C48-A268-23841E095B2D}" type="presParOf" srcId="{07F8D52F-6CBA-2940-B690-66DC58C66769}" destId="{0B245BDA-843F-F34F-A717-B241AD65008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8D2897-9849-4E1A-91C3-9D1146D0FF52}"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934D0C05-EB05-4D22-9266-FE89A3BDF616}">
      <dgm:prSet/>
      <dgm:spPr/>
      <dgm:t>
        <a:bodyPr/>
        <a:lstStyle/>
        <a:p>
          <a:r>
            <a:rPr lang="en-US" dirty="0"/>
            <a:t>Dataset: RNA-seq gene expression data from mouse nucleus </a:t>
          </a:r>
          <a:r>
            <a:rPr lang="en-US" dirty="0" err="1"/>
            <a:t>accumbens</a:t>
          </a:r>
          <a:r>
            <a:rPr lang="en-US" dirty="0"/>
            <a:t>.</a:t>
          </a:r>
        </a:p>
      </dgm:t>
    </dgm:pt>
    <dgm:pt modelId="{7CBA31FD-08E9-44D7-8A14-48651B422E9F}" type="parTrans" cxnId="{33D41AD0-910F-48F5-AF7B-827D9FE1FB22}">
      <dgm:prSet/>
      <dgm:spPr/>
      <dgm:t>
        <a:bodyPr/>
        <a:lstStyle/>
        <a:p>
          <a:endParaRPr lang="en-US"/>
        </a:p>
      </dgm:t>
    </dgm:pt>
    <dgm:pt modelId="{45BA8152-1807-4113-AF52-7137283CA884}" type="sibTrans" cxnId="{33D41AD0-910F-48F5-AF7B-827D9FE1FB22}">
      <dgm:prSet/>
      <dgm:spPr/>
      <dgm:t>
        <a:bodyPr/>
        <a:lstStyle/>
        <a:p>
          <a:endParaRPr lang="en-US"/>
        </a:p>
      </dgm:t>
    </dgm:pt>
    <dgm:pt modelId="{6013A1FC-34E9-4178-B799-01CF7AB83D39}">
      <dgm:prSet/>
      <dgm:spPr/>
      <dgm:t>
        <a:bodyPr/>
        <a:lstStyle/>
        <a:p>
          <a:r>
            <a:rPr lang="en-US"/>
            <a:t>Preprocessing: Converted to long format, cleaned sample names, and log-transformed expression values.</a:t>
          </a:r>
        </a:p>
      </dgm:t>
    </dgm:pt>
    <dgm:pt modelId="{2A41ED12-44AF-4EEE-8CB9-89046D907C1C}" type="parTrans" cxnId="{4DB0AF5C-9829-4145-90D9-678AD124048B}">
      <dgm:prSet/>
      <dgm:spPr/>
      <dgm:t>
        <a:bodyPr/>
        <a:lstStyle/>
        <a:p>
          <a:endParaRPr lang="en-US"/>
        </a:p>
      </dgm:t>
    </dgm:pt>
    <dgm:pt modelId="{F22DBEA9-F2C6-4967-9E28-4E82D53C7BA5}" type="sibTrans" cxnId="{4DB0AF5C-9829-4145-90D9-678AD124048B}">
      <dgm:prSet/>
      <dgm:spPr/>
      <dgm:t>
        <a:bodyPr/>
        <a:lstStyle/>
        <a:p>
          <a:endParaRPr lang="en-US"/>
        </a:p>
      </dgm:t>
    </dgm:pt>
    <dgm:pt modelId="{63DC92E7-20BF-48F4-A143-BF4880B6E609}">
      <dgm:prSet/>
      <dgm:spPr/>
      <dgm:t>
        <a:bodyPr/>
        <a:lstStyle/>
        <a:p>
          <a:r>
            <a:rPr lang="en-US"/>
            <a:t>Groups: Male vs Female, Cocaine-treated vs Naive.</a:t>
          </a:r>
        </a:p>
      </dgm:t>
    </dgm:pt>
    <dgm:pt modelId="{AFD5F3AD-FA6B-4751-AD4F-82FA19B504C4}" type="parTrans" cxnId="{15A19E2C-B671-47BE-8ABC-F0E53AB375DC}">
      <dgm:prSet/>
      <dgm:spPr/>
      <dgm:t>
        <a:bodyPr/>
        <a:lstStyle/>
        <a:p>
          <a:endParaRPr lang="en-US"/>
        </a:p>
      </dgm:t>
    </dgm:pt>
    <dgm:pt modelId="{34B2CB33-ED33-4F67-9F05-B6255E9023E3}" type="sibTrans" cxnId="{15A19E2C-B671-47BE-8ABC-F0E53AB375DC}">
      <dgm:prSet/>
      <dgm:spPr/>
      <dgm:t>
        <a:bodyPr/>
        <a:lstStyle/>
        <a:p>
          <a:endParaRPr lang="en-US"/>
        </a:p>
      </dgm:t>
    </dgm:pt>
    <dgm:pt modelId="{2BC37086-739C-0245-827D-D43804D161FC}" type="pres">
      <dgm:prSet presAssocID="{F48D2897-9849-4E1A-91C3-9D1146D0FF52}" presName="Name0" presStyleCnt="0">
        <dgm:presLayoutVars>
          <dgm:dir/>
          <dgm:animLvl val="lvl"/>
          <dgm:resizeHandles val="exact"/>
        </dgm:presLayoutVars>
      </dgm:prSet>
      <dgm:spPr/>
    </dgm:pt>
    <dgm:pt modelId="{A890A288-0831-FE4C-B027-C210D10122E7}" type="pres">
      <dgm:prSet presAssocID="{63DC92E7-20BF-48F4-A143-BF4880B6E609}" presName="boxAndChildren" presStyleCnt="0"/>
      <dgm:spPr/>
    </dgm:pt>
    <dgm:pt modelId="{04AEC1D9-E6AC-2B49-8C2D-FB48237AD1E5}" type="pres">
      <dgm:prSet presAssocID="{63DC92E7-20BF-48F4-A143-BF4880B6E609}" presName="parentTextBox" presStyleLbl="node1" presStyleIdx="0" presStyleCnt="3"/>
      <dgm:spPr/>
    </dgm:pt>
    <dgm:pt modelId="{327CE30D-16BB-8049-BE0C-5078606CE7F4}" type="pres">
      <dgm:prSet presAssocID="{F22DBEA9-F2C6-4967-9E28-4E82D53C7BA5}" presName="sp" presStyleCnt="0"/>
      <dgm:spPr/>
    </dgm:pt>
    <dgm:pt modelId="{4C92FDB4-25A0-8E40-BB73-B7DAEB0FD321}" type="pres">
      <dgm:prSet presAssocID="{6013A1FC-34E9-4178-B799-01CF7AB83D39}" presName="arrowAndChildren" presStyleCnt="0"/>
      <dgm:spPr/>
    </dgm:pt>
    <dgm:pt modelId="{AE66AF1C-4D1C-934D-8FB9-7EFC38A1DD96}" type="pres">
      <dgm:prSet presAssocID="{6013A1FC-34E9-4178-B799-01CF7AB83D39}" presName="parentTextArrow" presStyleLbl="node1" presStyleIdx="1" presStyleCnt="3"/>
      <dgm:spPr/>
    </dgm:pt>
    <dgm:pt modelId="{9E1514B7-20BA-1D49-B8A0-D30CFD91051E}" type="pres">
      <dgm:prSet presAssocID="{45BA8152-1807-4113-AF52-7137283CA884}" presName="sp" presStyleCnt="0"/>
      <dgm:spPr/>
    </dgm:pt>
    <dgm:pt modelId="{DA83C043-C78C-0A42-BE74-7CDB1991FABC}" type="pres">
      <dgm:prSet presAssocID="{934D0C05-EB05-4D22-9266-FE89A3BDF616}" presName="arrowAndChildren" presStyleCnt="0"/>
      <dgm:spPr/>
    </dgm:pt>
    <dgm:pt modelId="{6D5BF5F3-8E5C-684E-9FBB-0BE5AB46F68A}" type="pres">
      <dgm:prSet presAssocID="{934D0C05-EB05-4D22-9266-FE89A3BDF616}" presName="parentTextArrow" presStyleLbl="node1" presStyleIdx="2" presStyleCnt="3"/>
      <dgm:spPr/>
    </dgm:pt>
  </dgm:ptLst>
  <dgm:cxnLst>
    <dgm:cxn modelId="{4D4FD21F-139B-6046-977A-4B7FC6CBCB27}" type="presOf" srcId="{F48D2897-9849-4E1A-91C3-9D1146D0FF52}" destId="{2BC37086-739C-0245-827D-D43804D161FC}" srcOrd="0" destOrd="0" presId="urn:microsoft.com/office/officeart/2005/8/layout/process4"/>
    <dgm:cxn modelId="{15A19E2C-B671-47BE-8ABC-F0E53AB375DC}" srcId="{F48D2897-9849-4E1A-91C3-9D1146D0FF52}" destId="{63DC92E7-20BF-48F4-A143-BF4880B6E609}" srcOrd="2" destOrd="0" parTransId="{AFD5F3AD-FA6B-4751-AD4F-82FA19B504C4}" sibTransId="{34B2CB33-ED33-4F67-9F05-B6255E9023E3}"/>
    <dgm:cxn modelId="{4DB0AF5C-9829-4145-90D9-678AD124048B}" srcId="{F48D2897-9849-4E1A-91C3-9D1146D0FF52}" destId="{6013A1FC-34E9-4178-B799-01CF7AB83D39}" srcOrd="1" destOrd="0" parTransId="{2A41ED12-44AF-4EEE-8CB9-89046D907C1C}" sibTransId="{F22DBEA9-F2C6-4967-9E28-4E82D53C7BA5}"/>
    <dgm:cxn modelId="{4BD2197A-45AB-F14D-86E1-882CECF44A3C}" type="presOf" srcId="{6013A1FC-34E9-4178-B799-01CF7AB83D39}" destId="{AE66AF1C-4D1C-934D-8FB9-7EFC38A1DD96}" srcOrd="0" destOrd="0" presId="urn:microsoft.com/office/officeart/2005/8/layout/process4"/>
    <dgm:cxn modelId="{F059737A-A7F9-754C-B261-A9F8A69723F8}" type="presOf" srcId="{934D0C05-EB05-4D22-9266-FE89A3BDF616}" destId="{6D5BF5F3-8E5C-684E-9FBB-0BE5AB46F68A}" srcOrd="0" destOrd="0" presId="urn:microsoft.com/office/officeart/2005/8/layout/process4"/>
    <dgm:cxn modelId="{8BA48FBB-0B1C-374E-A5D6-FD2519FDCDBA}" type="presOf" srcId="{63DC92E7-20BF-48F4-A143-BF4880B6E609}" destId="{04AEC1D9-E6AC-2B49-8C2D-FB48237AD1E5}" srcOrd="0" destOrd="0" presId="urn:microsoft.com/office/officeart/2005/8/layout/process4"/>
    <dgm:cxn modelId="{33D41AD0-910F-48F5-AF7B-827D9FE1FB22}" srcId="{F48D2897-9849-4E1A-91C3-9D1146D0FF52}" destId="{934D0C05-EB05-4D22-9266-FE89A3BDF616}" srcOrd="0" destOrd="0" parTransId="{7CBA31FD-08E9-44D7-8A14-48651B422E9F}" sibTransId="{45BA8152-1807-4113-AF52-7137283CA884}"/>
    <dgm:cxn modelId="{BFE12957-5DFF-D343-B394-4C06A0947688}" type="presParOf" srcId="{2BC37086-739C-0245-827D-D43804D161FC}" destId="{A890A288-0831-FE4C-B027-C210D10122E7}" srcOrd="0" destOrd="0" presId="urn:microsoft.com/office/officeart/2005/8/layout/process4"/>
    <dgm:cxn modelId="{E5098374-927E-DC4C-A689-60AA2EEEAAEC}" type="presParOf" srcId="{A890A288-0831-FE4C-B027-C210D10122E7}" destId="{04AEC1D9-E6AC-2B49-8C2D-FB48237AD1E5}" srcOrd="0" destOrd="0" presId="urn:microsoft.com/office/officeart/2005/8/layout/process4"/>
    <dgm:cxn modelId="{625E28F2-67DF-704B-BD9B-A384522C6DAA}" type="presParOf" srcId="{2BC37086-739C-0245-827D-D43804D161FC}" destId="{327CE30D-16BB-8049-BE0C-5078606CE7F4}" srcOrd="1" destOrd="0" presId="urn:microsoft.com/office/officeart/2005/8/layout/process4"/>
    <dgm:cxn modelId="{CA99ECE6-006C-7D47-8E60-A35DC07300E5}" type="presParOf" srcId="{2BC37086-739C-0245-827D-D43804D161FC}" destId="{4C92FDB4-25A0-8E40-BB73-B7DAEB0FD321}" srcOrd="2" destOrd="0" presId="urn:microsoft.com/office/officeart/2005/8/layout/process4"/>
    <dgm:cxn modelId="{2DF9D4E3-417D-6446-8B8F-30A14DE73607}" type="presParOf" srcId="{4C92FDB4-25A0-8E40-BB73-B7DAEB0FD321}" destId="{AE66AF1C-4D1C-934D-8FB9-7EFC38A1DD96}" srcOrd="0" destOrd="0" presId="urn:microsoft.com/office/officeart/2005/8/layout/process4"/>
    <dgm:cxn modelId="{CA3A2D31-C153-374E-9ADF-1D7D97603842}" type="presParOf" srcId="{2BC37086-739C-0245-827D-D43804D161FC}" destId="{9E1514B7-20BA-1D49-B8A0-D30CFD91051E}" srcOrd="3" destOrd="0" presId="urn:microsoft.com/office/officeart/2005/8/layout/process4"/>
    <dgm:cxn modelId="{C19463AA-F857-0D41-BDAD-5A06C8E2D183}" type="presParOf" srcId="{2BC37086-739C-0245-827D-D43804D161FC}" destId="{DA83C043-C78C-0A42-BE74-7CDB1991FABC}" srcOrd="4" destOrd="0" presId="urn:microsoft.com/office/officeart/2005/8/layout/process4"/>
    <dgm:cxn modelId="{291D754B-D3FD-824B-999E-6ED14F579684}" type="presParOf" srcId="{DA83C043-C78C-0A42-BE74-7CDB1991FABC}" destId="{6D5BF5F3-8E5C-684E-9FBB-0BE5AB46F68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1FCA609-5116-40D6-A157-6F789919F369}"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0F493271-2C3C-4B10-B6EC-0A581A08432B}">
      <dgm:prSet/>
      <dgm:spPr/>
      <dgm:t>
        <a:bodyPr/>
        <a:lstStyle/>
        <a:p>
          <a:r>
            <a:rPr lang="en-US" dirty="0"/>
            <a:t>• Downregulation of </a:t>
          </a:r>
          <a:r>
            <a:rPr lang="en-US" dirty="0" err="1"/>
            <a:t>Drd</a:t>
          </a:r>
          <a:r>
            <a:rPr lang="en-US" dirty="0"/>
            <a:t> genes suggests lasting neuroadaptation after cocaine exposure.</a:t>
          </a:r>
        </a:p>
      </dgm:t>
    </dgm:pt>
    <dgm:pt modelId="{41E9C90F-8FDA-4DED-9848-46A5AAAB3A9D}" type="parTrans" cxnId="{91020BB9-AA6D-4CEA-8C99-CAD29611C7C6}">
      <dgm:prSet/>
      <dgm:spPr/>
      <dgm:t>
        <a:bodyPr/>
        <a:lstStyle/>
        <a:p>
          <a:endParaRPr lang="en-US"/>
        </a:p>
      </dgm:t>
    </dgm:pt>
    <dgm:pt modelId="{776028EC-6D49-47B9-8038-A3D36B0B1DDA}" type="sibTrans" cxnId="{91020BB9-AA6D-4CEA-8C99-CAD29611C7C6}">
      <dgm:prSet/>
      <dgm:spPr/>
      <dgm:t>
        <a:bodyPr/>
        <a:lstStyle/>
        <a:p>
          <a:endParaRPr lang="en-US"/>
        </a:p>
      </dgm:t>
    </dgm:pt>
    <dgm:pt modelId="{D1982AD2-FA7B-4BD5-88FD-FCAD695E7F78}">
      <dgm:prSet/>
      <dgm:spPr/>
      <dgm:t>
        <a:bodyPr/>
        <a:lstStyle/>
        <a:p>
          <a:r>
            <a:rPr lang="en-CA" dirty="0"/>
            <a:t>*Drd1 and Drd3 among genes showing altered regulation post-cocaine</a:t>
          </a:r>
          <a:endParaRPr lang="en-US" dirty="0"/>
        </a:p>
      </dgm:t>
    </dgm:pt>
    <dgm:pt modelId="{85EFCA7B-7092-4BF3-B675-E26E82B16D47}" type="parTrans" cxnId="{B041DD63-93F2-437C-A530-ACD2D6F708B4}">
      <dgm:prSet/>
      <dgm:spPr/>
      <dgm:t>
        <a:bodyPr/>
        <a:lstStyle/>
        <a:p>
          <a:endParaRPr lang="en-US"/>
        </a:p>
      </dgm:t>
    </dgm:pt>
    <dgm:pt modelId="{C4717B8A-8515-436C-BE54-4EFC60901585}" type="sibTrans" cxnId="{B041DD63-93F2-437C-A530-ACD2D6F708B4}">
      <dgm:prSet/>
      <dgm:spPr/>
      <dgm:t>
        <a:bodyPr/>
        <a:lstStyle/>
        <a:p>
          <a:endParaRPr lang="en-US"/>
        </a:p>
      </dgm:t>
    </dgm:pt>
    <dgm:pt modelId="{D8B975B8-802C-4E76-9FAB-4C7CDA6A5C99}">
      <dgm:prSet/>
      <dgm:spPr/>
      <dgm:t>
        <a:bodyPr/>
        <a:lstStyle/>
        <a:p>
          <a:r>
            <a:rPr lang="en-US" dirty="0"/>
            <a:t>• Lower receptor expression may reflect decreased sensitivity to dopamine and impaired pleasure response.</a:t>
          </a:r>
        </a:p>
      </dgm:t>
    </dgm:pt>
    <dgm:pt modelId="{1C57C017-C1AD-41E2-BDD7-A5B5150AF661}" type="parTrans" cxnId="{7DABE3CC-784D-4E88-B2D1-B581F31C7538}">
      <dgm:prSet/>
      <dgm:spPr/>
      <dgm:t>
        <a:bodyPr/>
        <a:lstStyle/>
        <a:p>
          <a:endParaRPr lang="en-US"/>
        </a:p>
      </dgm:t>
    </dgm:pt>
    <dgm:pt modelId="{3F9A7528-489D-4D78-9173-D0C28229CF6F}" type="sibTrans" cxnId="{7DABE3CC-784D-4E88-B2D1-B581F31C7538}">
      <dgm:prSet/>
      <dgm:spPr/>
      <dgm:t>
        <a:bodyPr/>
        <a:lstStyle/>
        <a:p>
          <a:endParaRPr lang="en-US"/>
        </a:p>
      </dgm:t>
    </dgm:pt>
    <dgm:pt modelId="{836A5B38-13C0-4471-A826-1889F33FDE69}">
      <dgm:prSet/>
      <dgm:spPr/>
      <dgm:t>
        <a:bodyPr/>
        <a:lstStyle/>
        <a:p>
          <a:r>
            <a:rPr lang="en-US"/>
            <a:t>• This supports the idea that chronic cocaine use causes the brain to adapt by reducing receptor availability, even after withdrawal.</a:t>
          </a:r>
        </a:p>
      </dgm:t>
    </dgm:pt>
    <dgm:pt modelId="{43EFDAB8-47CE-4CAD-BB63-84A57179A3FB}" type="parTrans" cxnId="{67D41C32-E1EB-45A6-AD43-F47F10139429}">
      <dgm:prSet/>
      <dgm:spPr/>
      <dgm:t>
        <a:bodyPr/>
        <a:lstStyle/>
        <a:p>
          <a:endParaRPr lang="en-US"/>
        </a:p>
      </dgm:t>
    </dgm:pt>
    <dgm:pt modelId="{BA574B35-121D-4EDB-A8F8-8D6D8BA27986}" type="sibTrans" cxnId="{67D41C32-E1EB-45A6-AD43-F47F10139429}">
      <dgm:prSet/>
      <dgm:spPr/>
      <dgm:t>
        <a:bodyPr/>
        <a:lstStyle/>
        <a:p>
          <a:endParaRPr lang="en-US"/>
        </a:p>
      </dgm:t>
    </dgm:pt>
    <dgm:pt modelId="{FE13F3F8-FDC9-4FFC-BF9B-7F03D3514E50}">
      <dgm:prSet/>
      <dgm:spPr/>
      <dgm:t>
        <a:bodyPr/>
        <a:lstStyle/>
        <a:p>
          <a:r>
            <a:rPr lang="en-US" dirty="0"/>
            <a:t>• Downregulation of Drd3, is linked to emotional regulation and drug craving — key aspects of relapse vulnerability.</a:t>
          </a:r>
        </a:p>
      </dgm:t>
    </dgm:pt>
    <dgm:pt modelId="{4BE01460-3CB9-4BB2-A08D-A2D908E339A1}" type="parTrans" cxnId="{020B5D81-C021-48C8-9DCD-4E80C3E0C57B}">
      <dgm:prSet/>
      <dgm:spPr/>
      <dgm:t>
        <a:bodyPr/>
        <a:lstStyle/>
        <a:p>
          <a:endParaRPr lang="en-US"/>
        </a:p>
      </dgm:t>
    </dgm:pt>
    <dgm:pt modelId="{6F3A34DC-35EA-429D-81CF-E8D1C901D281}" type="sibTrans" cxnId="{020B5D81-C021-48C8-9DCD-4E80C3E0C57B}">
      <dgm:prSet/>
      <dgm:spPr/>
      <dgm:t>
        <a:bodyPr/>
        <a:lstStyle/>
        <a:p>
          <a:endParaRPr lang="en-US"/>
        </a:p>
      </dgm:t>
    </dgm:pt>
    <dgm:pt modelId="{1327237A-5DE4-7C43-83A6-43B32F2635D9}" type="pres">
      <dgm:prSet presAssocID="{01FCA609-5116-40D6-A157-6F789919F369}" presName="linear" presStyleCnt="0">
        <dgm:presLayoutVars>
          <dgm:animLvl val="lvl"/>
          <dgm:resizeHandles val="exact"/>
        </dgm:presLayoutVars>
      </dgm:prSet>
      <dgm:spPr/>
    </dgm:pt>
    <dgm:pt modelId="{CD1466CF-1F37-D04C-8FE0-86810289D0EC}" type="pres">
      <dgm:prSet presAssocID="{0F493271-2C3C-4B10-B6EC-0A581A08432B}" presName="parentText" presStyleLbl="node1" presStyleIdx="0" presStyleCnt="5">
        <dgm:presLayoutVars>
          <dgm:chMax val="0"/>
          <dgm:bulletEnabled val="1"/>
        </dgm:presLayoutVars>
      </dgm:prSet>
      <dgm:spPr/>
    </dgm:pt>
    <dgm:pt modelId="{0648E575-B74B-1346-9BB8-03A7048AC5FB}" type="pres">
      <dgm:prSet presAssocID="{776028EC-6D49-47B9-8038-A3D36B0B1DDA}" presName="spacer" presStyleCnt="0"/>
      <dgm:spPr/>
    </dgm:pt>
    <dgm:pt modelId="{7301CF9D-7CAA-7147-82D9-8609C53ED5DD}" type="pres">
      <dgm:prSet presAssocID="{D1982AD2-FA7B-4BD5-88FD-FCAD695E7F78}" presName="parentText" presStyleLbl="node1" presStyleIdx="1" presStyleCnt="5">
        <dgm:presLayoutVars>
          <dgm:chMax val="0"/>
          <dgm:bulletEnabled val="1"/>
        </dgm:presLayoutVars>
      </dgm:prSet>
      <dgm:spPr/>
    </dgm:pt>
    <dgm:pt modelId="{2A086D37-88AB-D746-B552-5C2481FD442C}" type="pres">
      <dgm:prSet presAssocID="{C4717B8A-8515-436C-BE54-4EFC60901585}" presName="spacer" presStyleCnt="0"/>
      <dgm:spPr/>
    </dgm:pt>
    <dgm:pt modelId="{D8C6B9C4-6CCA-754D-9D53-EC982A1EFCA9}" type="pres">
      <dgm:prSet presAssocID="{D8B975B8-802C-4E76-9FAB-4C7CDA6A5C99}" presName="parentText" presStyleLbl="node1" presStyleIdx="2" presStyleCnt="5">
        <dgm:presLayoutVars>
          <dgm:chMax val="0"/>
          <dgm:bulletEnabled val="1"/>
        </dgm:presLayoutVars>
      </dgm:prSet>
      <dgm:spPr/>
    </dgm:pt>
    <dgm:pt modelId="{63176889-8D69-E442-A465-623EB5BF2518}" type="pres">
      <dgm:prSet presAssocID="{3F9A7528-489D-4D78-9173-D0C28229CF6F}" presName="spacer" presStyleCnt="0"/>
      <dgm:spPr/>
    </dgm:pt>
    <dgm:pt modelId="{D3FE9ED5-C322-D241-9D9C-CBCF867496D7}" type="pres">
      <dgm:prSet presAssocID="{836A5B38-13C0-4471-A826-1889F33FDE69}" presName="parentText" presStyleLbl="node1" presStyleIdx="3" presStyleCnt="5">
        <dgm:presLayoutVars>
          <dgm:chMax val="0"/>
          <dgm:bulletEnabled val="1"/>
        </dgm:presLayoutVars>
      </dgm:prSet>
      <dgm:spPr/>
    </dgm:pt>
    <dgm:pt modelId="{5C8A7AE7-0EDD-CD47-9A6D-7BBC9EC846E0}" type="pres">
      <dgm:prSet presAssocID="{BA574B35-121D-4EDB-A8F8-8D6D8BA27986}" presName="spacer" presStyleCnt="0"/>
      <dgm:spPr/>
    </dgm:pt>
    <dgm:pt modelId="{A4597F98-EC96-B94C-A32F-2A31E684AF4D}" type="pres">
      <dgm:prSet presAssocID="{FE13F3F8-FDC9-4FFC-BF9B-7F03D3514E50}" presName="parentText" presStyleLbl="node1" presStyleIdx="4" presStyleCnt="5">
        <dgm:presLayoutVars>
          <dgm:chMax val="0"/>
          <dgm:bulletEnabled val="1"/>
        </dgm:presLayoutVars>
      </dgm:prSet>
      <dgm:spPr/>
    </dgm:pt>
  </dgm:ptLst>
  <dgm:cxnLst>
    <dgm:cxn modelId="{4B99FD12-AA70-0641-BBC9-BAB6BED047EE}" type="presOf" srcId="{D1982AD2-FA7B-4BD5-88FD-FCAD695E7F78}" destId="{7301CF9D-7CAA-7147-82D9-8609C53ED5DD}" srcOrd="0" destOrd="0" presId="urn:microsoft.com/office/officeart/2005/8/layout/vList2"/>
    <dgm:cxn modelId="{67D41C32-E1EB-45A6-AD43-F47F10139429}" srcId="{01FCA609-5116-40D6-A157-6F789919F369}" destId="{836A5B38-13C0-4471-A826-1889F33FDE69}" srcOrd="3" destOrd="0" parTransId="{43EFDAB8-47CE-4CAD-BB63-84A57179A3FB}" sibTransId="{BA574B35-121D-4EDB-A8F8-8D6D8BA27986}"/>
    <dgm:cxn modelId="{FE17133A-2799-BE4B-859A-8A9DE4CBE7C5}" type="presOf" srcId="{0F493271-2C3C-4B10-B6EC-0A581A08432B}" destId="{CD1466CF-1F37-D04C-8FE0-86810289D0EC}" srcOrd="0" destOrd="0" presId="urn:microsoft.com/office/officeart/2005/8/layout/vList2"/>
    <dgm:cxn modelId="{F2E84958-E5CD-EE4E-9D64-1A7C19AE1AD5}" type="presOf" srcId="{836A5B38-13C0-4471-A826-1889F33FDE69}" destId="{D3FE9ED5-C322-D241-9D9C-CBCF867496D7}" srcOrd="0" destOrd="0" presId="urn:microsoft.com/office/officeart/2005/8/layout/vList2"/>
    <dgm:cxn modelId="{B041DD63-93F2-437C-A530-ACD2D6F708B4}" srcId="{01FCA609-5116-40D6-A157-6F789919F369}" destId="{D1982AD2-FA7B-4BD5-88FD-FCAD695E7F78}" srcOrd="1" destOrd="0" parTransId="{85EFCA7B-7092-4BF3-B675-E26E82B16D47}" sibTransId="{C4717B8A-8515-436C-BE54-4EFC60901585}"/>
    <dgm:cxn modelId="{F6404775-106F-E44F-9EB5-989CD6A2DC0E}" type="presOf" srcId="{01FCA609-5116-40D6-A157-6F789919F369}" destId="{1327237A-5DE4-7C43-83A6-43B32F2635D9}" srcOrd="0" destOrd="0" presId="urn:microsoft.com/office/officeart/2005/8/layout/vList2"/>
    <dgm:cxn modelId="{82585879-816A-334E-BEBD-45322149A51E}" type="presOf" srcId="{D8B975B8-802C-4E76-9FAB-4C7CDA6A5C99}" destId="{D8C6B9C4-6CCA-754D-9D53-EC982A1EFCA9}" srcOrd="0" destOrd="0" presId="urn:microsoft.com/office/officeart/2005/8/layout/vList2"/>
    <dgm:cxn modelId="{020B5D81-C021-48C8-9DCD-4E80C3E0C57B}" srcId="{01FCA609-5116-40D6-A157-6F789919F369}" destId="{FE13F3F8-FDC9-4FFC-BF9B-7F03D3514E50}" srcOrd="4" destOrd="0" parTransId="{4BE01460-3CB9-4BB2-A08D-A2D908E339A1}" sibTransId="{6F3A34DC-35EA-429D-81CF-E8D1C901D281}"/>
    <dgm:cxn modelId="{9B6698A1-912E-3F4A-9379-21FA7BF01995}" type="presOf" srcId="{FE13F3F8-FDC9-4FFC-BF9B-7F03D3514E50}" destId="{A4597F98-EC96-B94C-A32F-2A31E684AF4D}" srcOrd="0" destOrd="0" presId="urn:microsoft.com/office/officeart/2005/8/layout/vList2"/>
    <dgm:cxn modelId="{91020BB9-AA6D-4CEA-8C99-CAD29611C7C6}" srcId="{01FCA609-5116-40D6-A157-6F789919F369}" destId="{0F493271-2C3C-4B10-B6EC-0A581A08432B}" srcOrd="0" destOrd="0" parTransId="{41E9C90F-8FDA-4DED-9848-46A5AAAB3A9D}" sibTransId="{776028EC-6D49-47B9-8038-A3D36B0B1DDA}"/>
    <dgm:cxn modelId="{7DABE3CC-784D-4E88-B2D1-B581F31C7538}" srcId="{01FCA609-5116-40D6-A157-6F789919F369}" destId="{D8B975B8-802C-4E76-9FAB-4C7CDA6A5C99}" srcOrd="2" destOrd="0" parTransId="{1C57C017-C1AD-41E2-BDD7-A5B5150AF661}" sibTransId="{3F9A7528-489D-4D78-9173-D0C28229CF6F}"/>
    <dgm:cxn modelId="{9BC272B6-76E0-0241-96E3-B515EDC3BCCF}" type="presParOf" srcId="{1327237A-5DE4-7C43-83A6-43B32F2635D9}" destId="{CD1466CF-1F37-D04C-8FE0-86810289D0EC}" srcOrd="0" destOrd="0" presId="urn:microsoft.com/office/officeart/2005/8/layout/vList2"/>
    <dgm:cxn modelId="{B705B0F9-DAF8-5E48-8247-1A18EF69DBD5}" type="presParOf" srcId="{1327237A-5DE4-7C43-83A6-43B32F2635D9}" destId="{0648E575-B74B-1346-9BB8-03A7048AC5FB}" srcOrd="1" destOrd="0" presId="urn:microsoft.com/office/officeart/2005/8/layout/vList2"/>
    <dgm:cxn modelId="{CEC9EB97-43D6-4742-B578-B10553862112}" type="presParOf" srcId="{1327237A-5DE4-7C43-83A6-43B32F2635D9}" destId="{7301CF9D-7CAA-7147-82D9-8609C53ED5DD}" srcOrd="2" destOrd="0" presId="urn:microsoft.com/office/officeart/2005/8/layout/vList2"/>
    <dgm:cxn modelId="{5EB7678B-FA4A-8448-B9FB-24FBA41468F1}" type="presParOf" srcId="{1327237A-5DE4-7C43-83A6-43B32F2635D9}" destId="{2A086D37-88AB-D746-B552-5C2481FD442C}" srcOrd="3" destOrd="0" presId="urn:microsoft.com/office/officeart/2005/8/layout/vList2"/>
    <dgm:cxn modelId="{2F45B7A2-2854-C54C-BB52-679892042693}" type="presParOf" srcId="{1327237A-5DE4-7C43-83A6-43B32F2635D9}" destId="{D8C6B9C4-6CCA-754D-9D53-EC982A1EFCA9}" srcOrd="4" destOrd="0" presId="urn:microsoft.com/office/officeart/2005/8/layout/vList2"/>
    <dgm:cxn modelId="{2B878EEE-568C-B445-A20F-ADF6865E650B}" type="presParOf" srcId="{1327237A-5DE4-7C43-83A6-43B32F2635D9}" destId="{63176889-8D69-E442-A465-623EB5BF2518}" srcOrd="5" destOrd="0" presId="urn:microsoft.com/office/officeart/2005/8/layout/vList2"/>
    <dgm:cxn modelId="{F5CE666F-C578-F749-851D-940CED2B9CB3}" type="presParOf" srcId="{1327237A-5DE4-7C43-83A6-43B32F2635D9}" destId="{D3FE9ED5-C322-D241-9D9C-CBCF867496D7}" srcOrd="6" destOrd="0" presId="urn:microsoft.com/office/officeart/2005/8/layout/vList2"/>
    <dgm:cxn modelId="{1966971B-ED06-D542-8683-3A022397A71D}" type="presParOf" srcId="{1327237A-5DE4-7C43-83A6-43B32F2635D9}" destId="{5C8A7AE7-0EDD-CD47-9A6D-7BBC9EC846E0}" srcOrd="7" destOrd="0" presId="urn:microsoft.com/office/officeart/2005/8/layout/vList2"/>
    <dgm:cxn modelId="{597959BA-1F34-F84B-834C-28C4F1B1351E}" type="presParOf" srcId="{1327237A-5DE4-7C43-83A6-43B32F2635D9}" destId="{A4597F98-EC96-B94C-A32F-2A31E684AF4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81D14F-3A89-469A-8C47-85FDA955D385}" type="doc">
      <dgm:prSet loTypeId="urn:microsoft.com/office/officeart/2008/layout/LinedList" loCatId="list" qsTypeId="urn:microsoft.com/office/officeart/2005/8/quickstyle/simple1" qsCatId="simple" csTypeId="urn:microsoft.com/office/officeart/2005/8/colors/accent4_2" csCatId="accent4" phldr="1"/>
      <dgm:spPr/>
      <dgm:t>
        <a:bodyPr/>
        <a:lstStyle/>
        <a:p>
          <a:endParaRPr lang="en-US"/>
        </a:p>
      </dgm:t>
    </dgm:pt>
    <dgm:pt modelId="{D0E38BA5-450D-4230-940C-31860544438D}">
      <dgm:prSet/>
      <dgm:spPr/>
      <dgm:t>
        <a:bodyPr/>
        <a:lstStyle/>
        <a:p>
          <a:r>
            <a:rPr lang="en-US"/>
            <a:t>Preliminary findings suggest possible sex and withdrawal effects on dopamine genes.</a:t>
          </a:r>
        </a:p>
      </dgm:t>
    </dgm:pt>
    <dgm:pt modelId="{2F37FDF3-BB4A-4234-A8BA-6CB4E61104FB}" type="parTrans" cxnId="{1CCD1CD3-D81D-4FC2-9D44-1E8E092BBFD2}">
      <dgm:prSet/>
      <dgm:spPr/>
      <dgm:t>
        <a:bodyPr/>
        <a:lstStyle/>
        <a:p>
          <a:endParaRPr lang="en-US"/>
        </a:p>
      </dgm:t>
    </dgm:pt>
    <dgm:pt modelId="{C02059EA-EE23-46A7-ABA8-D057B42FA6C4}" type="sibTrans" cxnId="{1CCD1CD3-D81D-4FC2-9D44-1E8E092BBFD2}">
      <dgm:prSet/>
      <dgm:spPr/>
      <dgm:t>
        <a:bodyPr/>
        <a:lstStyle/>
        <a:p>
          <a:endParaRPr lang="en-US"/>
        </a:p>
      </dgm:t>
    </dgm:pt>
    <dgm:pt modelId="{67080B49-869E-497F-BD6C-C0C12FE4CE3A}">
      <dgm:prSet/>
      <dgm:spPr/>
      <dgm:t>
        <a:bodyPr/>
        <a:lstStyle/>
        <a:p>
          <a:r>
            <a:rPr lang="en-US" dirty="0"/>
            <a:t>Drd3 shows trends worth deeper investigation.</a:t>
          </a:r>
        </a:p>
      </dgm:t>
    </dgm:pt>
    <dgm:pt modelId="{A4F5D403-25E6-4E9C-94C8-9653984F1A47}" type="parTrans" cxnId="{31AA9422-4FAC-45B8-9924-6A24FE8229AE}">
      <dgm:prSet/>
      <dgm:spPr/>
      <dgm:t>
        <a:bodyPr/>
        <a:lstStyle/>
        <a:p>
          <a:endParaRPr lang="en-US"/>
        </a:p>
      </dgm:t>
    </dgm:pt>
    <dgm:pt modelId="{C3B498FB-1221-4094-9167-28BE8BD81CDB}" type="sibTrans" cxnId="{31AA9422-4FAC-45B8-9924-6A24FE8229AE}">
      <dgm:prSet/>
      <dgm:spPr/>
      <dgm:t>
        <a:bodyPr/>
        <a:lstStyle/>
        <a:p>
          <a:endParaRPr lang="en-US"/>
        </a:p>
      </dgm:t>
    </dgm:pt>
    <dgm:pt modelId="{E7AF93BC-542F-46BD-AD66-1C6B9563C90C}">
      <dgm:prSet/>
      <dgm:spPr/>
      <dgm:t>
        <a:bodyPr/>
        <a:lstStyle/>
        <a:p>
          <a:r>
            <a:rPr lang="en-US" dirty="0"/>
            <a:t>Future: expand analysis to more genes, increase statistical power, and explore time-course effects.</a:t>
          </a:r>
        </a:p>
      </dgm:t>
    </dgm:pt>
    <dgm:pt modelId="{1906D790-E0CA-4DEC-B49C-4565CBBE1BE3}" type="parTrans" cxnId="{223E2551-5BD1-45E5-AF45-4D75FB33822E}">
      <dgm:prSet/>
      <dgm:spPr/>
      <dgm:t>
        <a:bodyPr/>
        <a:lstStyle/>
        <a:p>
          <a:endParaRPr lang="en-US"/>
        </a:p>
      </dgm:t>
    </dgm:pt>
    <dgm:pt modelId="{BCDD80FD-455F-458B-A181-AE72BCCD7355}" type="sibTrans" cxnId="{223E2551-5BD1-45E5-AF45-4D75FB33822E}">
      <dgm:prSet/>
      <dgm:spPr/>
      <dgm:t>
        <a:bodyPr/>
        <a:lstStyle/>
        <a:p>
          <a:endParaRPr lang="en-US"/>
        </a:p>
      </dgm:t>
    </dgm:pt>
    <dgm:pt modelId="{D769832A-B5B6-D54F-B4DE-5362458FE5D8}" type="pres">
      <dgm:prSet presAssocID="{2081D14F-3A89-469A-8C47-85FDA955D385}" presName="vert0" presStyleCnt="0">
        <dgm:presLayoutVars>
          <dgm:dir/>
          <dgm:animOne val="branch"/>
          <dgm:animLvl val="lvl"/>
        </dgm:presLayoutVars>
      </dgm:prSet>
      <dgm:spPr/>
    </dgm:pt>
    <dgm:pt modelId="{56524AF2-85AC-5B4E-9C84-68AB9314B4F7}" type="pres">
      <dgm:prSet presAssocID="{D0E38BA5-450D-4230-940C-31860544438D}" presName="thickLine" presStyleLbl="alignNode1" presStyleIdx="0" presStyleCnt="3"/>
      <dgm:spPr/>
    </dgm:pt>
    <dgm:pt modelId="{B45E653A-2DD3-E746-AF38-DEA6BC7BCA16}" type="pres">
      <dgm:prSet presAssocID="{D0E38BA5-450D-4230-940C-31860544438D}" presName="horz1" presStyleCnt="0"/>
      <dgm:spPr/>
    </dgm:pt>
    <dgm:pt modelId="{4A37F9E6-4EE4-E84D-931D-CDAB694C9991}" type="pres">
      <dgm:prSet presAssocID="{D0E38BA5-450D-4230-940C-31860544438D}" presName="tx1" presStyleLbl="revTx" presStyleIdx="0" presStyleCnt="3"/>
      <dgm:spPr/>
    </dgm:pt>
    <dgm:pt modelId="{822F0AC7-1606-2644-8CE7-73322FF73F13}" type="pres">
      <dgm:prSet presAssocID="{D0E38BA5-450D-4230-940C-31860544438D}" presName="vert1" presStyleCnt="0"/>
      <dgm:spPr/>
    </dgm:pt>
    <dgm:pt modelId="{610736BF-2238-1A4E-B785-99C5204B0C71}" type="pres">
      <dgm:prSet presAssocID="{67080B49-869E-497F-BD6C-C0C12FE4CE3A}" presName="thickLine" presStyleLbl="alignNode1" presStyleIdx="1" presStyleCnt="3"/>
      <dgm:spPr/>
    </dgm:pt>
    <dgm:pt modelId="{2716972F-9619-4345-BD05-E326D17CFA18}" type="pres">
      <dgm:prSet presAssocID="{67080B49-869E-497F-BD6C-C0C12FE4CE3A}" presName="horz1" presStyleCnt="0"/>
      <dgm:spPr/>
    </dgm:pt>
    <dgm:pt modelId="{35C8671E-4C2F-4F46-98E1-8F5606C51823}" type="pres">
      <dgm:prSet presAssocID="{67080B49-869E-497F-BD6C-C0C12FE4CE3A}" presName="tx1" presStyleLbl="revTx" presStyleIdx="1" presStyleCnt="3"/>
      <dgm:spPr/>
    </dgm:pt>
    <dgm:pt modelId="{DD016BDD-84BE-C148-A049-A26D00C85351}" type="pres">
      <dgm:prSet presAssocID="{67080B49-869E-497F-BD6C-C0C12FE4CE3A}" presName="vert1" presStyleCnt="0"/>
      <dgm:spPr/>
    </dgm:pt>
    <dgm:pt modelId="{82F34F6E-D260-5E42-82CB-8997F4DB0507}" type="pres">
      <dgm:prSet presAssocID="{E7AF93BC-542F-46BD-AD66-1C6B9563C90C}" presName="thickLine" presStyleLbl="alignNode1" presStyleIdx="2" presStyleCnt="3"/>
      <dgm:spPr/>
    </dgm:pt>
    <dgm:pt modelId="{4C8A39B8-E30C-2E48-B14E-56DFC266397B}" type="pres">
      <dgm:prSet presAssocID="{E7AF93BC-542F-46BD-AD66-1C6B9563C90C}" presName="horz1" presStyleCnt="0"/>
      <dgm:spPr/>
    </dgm:pt>
    <dgm:pt modelId="{27A9DD49-F9DA-8C40-BEDC-4F2790A31BF6}" type="pres">
      <dgm:prSet presAssocID="{E7AF93BC-542F-46BD-AD66-1C6B9563C90C}" presName="tx1" presStyleLbl="revTx" presStyleIdx="2" presStyleCnt="3"/>
      <dgm:spPr/>
    </dgm:pt>
    <dgm:pt modelId="{5DB84D2D-8D94-6448-9BAC-F96BD2DC7EFF}" type="pres">
      <dgm:prSet presAssocID="{E7AF93BC-542F-46BD-AD66-1C6B9563C90C}" presName="vert1" presStyleCnt="0"/>
      <dgm:spPr/>
    </dgm:pt>
  </dgm:ptLst>
  <dgm:cxnLst>
    <dgm:cxn modelId="{31AA9422-4FAC-45B8-9924-6A24FE8229AE}" srcId="{2081D14F-3A89-469A-8C47-85FDA955D385}" destId="{67080B49-869E-497F-BD6C-C0C12FE4CE3A}" srcOrd="1" destOrd="0" parTransId="{A4F5D403-25E6-4E9C-94C8-9653984F1A47}" sibTransId="{C3B498FB-1221-4094-9167-28BE8BD81CDB}"/>
    <dgm:cxn modelId="{223E2551-5BD1-45E5-AF45-4D75FB33822E}" srcId="{2081D14F-3A89-469A-8C47-85FDA955D385}" destId="{E7AF93BC-542F-46BD-AD66-1C6B9563C90C}" srcOrd="2" destOrd="0" parTransId="{1906D790-E0CA-4DEC-B49C-4565CBBE1BE3}" sibTransId="{BCDD80FD-455F-458B-A181-AE72BCCD7355}"/>
    <dgm:cxn modelId="{71D7EE59-29E9-EE45-A671-5F436999B7F4}" type="presOf" srcId="{67080B49-869E-497F-BD6C-C0C12FE4CE3A}" destId="{35C8671E-4C2F-4F46-98E1-8F5606C51823}" srcOrd="0" destOrd="0" presId="urn:microsoft.com/office/officeart/2008/layout/LinedList"/>
    <dgm:cxn modelId="{4E6B565D-DBBA-C449-B4D2-56AC57C0F78D}" type="presOf" srcId="{D0E38BA5-450D-4230-940C-31860544438D}" destId="{4A37F9E6-4EE4-E84D-931D-CDAB694C9991}" srcOrd="0" destOrd="0" presId="urn:microsoft.com/office/officeart/2008/layout/LinedList"/>
    <dgm:cxn modelId="{15345E78-3214-D14B-BEBF-C2B600040098}" type="presOf" srcId="{2081D14F-3A89-469A-8C47-85FDA955D385}" destId="{D769832A-B5B6-D54F-B4DE-5362458FE5D8}" srcOrd="0" destOrd="0" presId="urn:microsoft.com/office/officeart/2008/layout/LinedList"/>
    <dgm:cxn modelId="{1CCD1CD3-D81D-4FC2-9D44-1E8E092BBFD2}" srcId="{2081D14F-3A89-469A-8C47-85FDA955D385}" destId="{D0E38BA5-450D-4230-940C-31860544438D}" srcOrd="0" destOrd="0" parTransId="{2F37FDF3-BB4A-4234-A8BA-6CB4E61104FB}" sibTransId="{C02059EA-EE23-46A7-ABA8-D057B42FA6C4}"/>
    <dgm:cxn modelId="{29F942DE-4FF1-2445-992A-69F487F34B54}" type="presOf" srcId="{E7AF93BC-542F-46BD-AD66-1C6B9563C90C}" destId="{27A9DD49-F9DA-8C40-BEDC-4F2790A31BF6}" srcOrd="0" destOrd="0" presId="urn:microsoft.com/office/officeart/2008/layout/LinedList"/>
    <dgm:cxn modelId="{B96B8188-F7D1-964E-B27F-0D5D678C9113}" type="presParOf" srcId="{D769832A-B5B6-D54F-B4DE-5362458FE5D8}" destId="{56524AF2-85AC-5B4E-9C84-68AB9314B4F7}" srcOrd="0" destOrd="0" presId="urn:microsoft.com/office/officeart/2008/layout/LinedList"/>
    <dgm:cxn modelId="{74A9F81A-6820-6446-B7DB-69F2DEFCA138}" type="presParOf" srcId="{D769832A-B5B6-D54F-B4DE-5362458FE5D8}" destId="{B45E653A-2DD3-E746-AF38-DEA6BC7BCA16}" srcOrd="1" destOrd="0" presId="urn:microsoft.com/office/officeart/2008/layout/LinedList"/>
    <dgm:cxn modelId="{B26E3CAE-E072-3D41-9D8B-29E8F84A4D44}" type="presParOf" srcId="{B45E653A-2DD3-E746-AF38-DEA6BC7BCA16}" destId="{4A37F9E6-4EE4-E84D-931D-CDAB694C9991}" srcOrd="0" destOrd="0" presId="urn:microsoft.com/office/officeart/2008/layout/LinedList"/>
    <dgm:cxn modelId="{C3643FF2-ACD9-9E4B-8D0D-79D50742DC65}" type="presParOf" srcId="{B45E653A-2DD3-E746-AF38-DEA6BC7BCA16}" destId="{822F0AC7-1606-2644-8CE7-73322FF73F13}" srcOrd="1" destOrd="0" presId="urn:microsoft.com/office/officeart/2008/layout/LinedList"/>
    <dgm:cxn modelId="{5C7EF4A9-BB9C-2842-99AC-BA0F866D0D21}" type="presParOf" srcId="{D769832A-B5B6-D54F-B4DE-5362458FE5D8}" destId="{610736BF-2238-1A4E-B785-99C5204B0C71}" srcOrd="2" destOrd="0" presId="urn:microsoft.com/office/officeart/2008/layout/LinedList"/>
    <dgm:cxn modelId="{19D708F2-3D53-9341-ABEC-0FC5A456E9F2}" type="presParOf" srcId="{D769832A-B5B6-D54F-B4DE-5362458FE5D8}" destId="{2716972F-9619-4345-BD05-E326D17CFA18}" srcOrd="3" destOrd="0" presId="urn:microsoft.com/office/officeart/2008/layout/LinedList"/>
    <dgm:cxn modelId="{0DA252E2-C4D8-1D47-BA3B-C5C48A8C3D63}" type="presParOf" srcId="{2716972F-9619-4345-BD05-E326D17CFA18}" destId="{35C8671E-4C2F-4F46-98E1-8F5606C51823}" srcOrd="0" destOrd="0" presId="urn:microsoft.com/office/officeart/2008/layout/LinedList"/>
    <dgm:cxn modelId="{2405C3F6-B246-3246-A83A-0863C916EF16}" type="presParOf" srcId="{2716972F-9619-4345-BD05-E326D17CFA18}" destId="{DD016BDD-84BE-C148-A049-A26D00C85351}" srcOrd="1" destOrd="0" presId="urn:microsoft.com/office/officeart/2008/layout/LinedList"/>
    <dgm:cxn modelId="{BFB0A029-F9FA-DC40-B1DB-68AAEC2AD26F}" type="presParOf" srcId="{D769832A-B5B6-D54F-B4DE-5362458FE5D8}" destId="{82F34F6E-D260-5E42-82CB-8997F4DB0507}" srcOrd="4" destOrd="0" presId="urn:microsoft.com/office/officeart/2008/layout/LinedList"/>
    <dgm:cxn modelId="{899C6EB5-962B-0C4C-9E4D-5EFEAF037172}" type="presParOf" srcId="{D769832A-B5B6-D54F-B4DE-5362458FE5D8}" destId="{4C8A39B8-E30C-2E48-B14E-56DFC266397B}" srcOrd="5" destOrd="0" presId="urn:microsoft.com/office/officeart/2008/layout/LinedList"/>
    <dgm:cxn modelId="{A87C0EAE-1B26-2249-A866-378CE15D89AC}" type="presParOf" srcId="{4C8A39B8-E30C-2E48-B14E-56DFC266397B}" destId="{27A9DD49-F9DA-8C40-BEDC-4F2790A31BF6}" srcOrd="0" destOrd="0" presId="urn:microsoft.com/office/officeart/2008/layout/LinedList"/>
    <dgm:cxn modelId="{9D6EC6C6-E610-154D-BF0B-320A62A38C7F}" type="presParOf" srcId="{4C8A39B8-E30C-2E48-B14E-56DFC266397B}" destId="{5DB84D2D-8D94-6448-9BAC-F96BD2DC7EF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05C04-D7A5-B341-A05D-D6F118D7D03C}">
      <dsp:nvSpPr>
        <dsp:cNvPr id="0" name=""/>
        <dsp:cNvSpPr/>
      </dsp:nvSpPr>
      <dsp:spPr>
        <a:xfrm>
          <a:off x="501406" y="9212"/>
          <a:ext cx="2718754" cy="163125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kern="1200"/>
            <a:t>In the brain, </a:t>
          </a:r>
          <a:r>
            <a:rPr lang="en-CA" sz="1600" b="1" kern="1200"/>
            <a:t>dopamine</a:t>
          </a:r>
          <a:r>
            <a:rPr lang="en-CA" sz="1600" kern="1200"/>
            <a:t> is a </a:t>
          </a:r>
          <a:r>
            <a:rPr lang="en-CA" sz="1600" b="1" kern="1200"/>
            <a:t>chemical messenger (neurotransmitter)</a:t>
          </a:r>
          <a:r>
            <a:rPr lang="en-CA" sz="1600" kern="1200"/>
            <a:t> involved in </a:t>
          </a:r>
          <a:r>
            <a:rPr lang="en-CA" sz="1600" b="1" kern="1200"/>
            <a:t>pleasure, motivation, and reward</a:t>
          </a:r>
          <a:r>
            <a:rPr lang="en-CA" sz="1600" kern="1200"/>
            <a:t>.</a:t>
          </a:r>
          <a:endParaRPr lang="en-US" sz="1600" kern="1200"/>
        </a:p>
      </dsp:txBody>
      <dsp:txXfrm>
        <a:off x="549184" y="56990"/>
        <a:ext cx="2623198" cy="1535696"/>
      </dsp:txXfrm>
    </dsp:sp>
    <dsp:sp modelId="{BE2EC8C2-5CC5-1A44-9978-DA5993214918}">
      <dsp:nvSpPr>
        <dsp:cNvPr id="0" name=""/>
        <dsp:cNvSpPr/>
      </dsp:nvSpPr>
      <dsp:spPr>
        <a:xfrm flipV="1">
          <a:off x="3534398" y="696424"/>
          <a:ext cx="600457" cy="24896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534398" y="746216"/>
        <a:ext cx="525769" cy="149376"/>
      </dsp:txXfrm>
    </dsp:sp>
    <dsp:sp modelId="{24DC417E-3B16-EB46-B9D5-9B07A65D2A67}">
      <dsp:nvSpPr>
        <dsp:cNvPr id="0" name=""/>
        <dsp:cNvSpPr/>
      </dsp:nvSpPr>
      <dsp:spPr>
        <a:xfrm>
          <a:off x="4487100" y="1268"/>
          <a:ext cx="2718754" cy="163125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kern="1200"/>
            <a:t>Dopamine is released by neurons into a small space called the </a:t>
          </a:r>
          <a:r>
            <a:rPr lang="en-CA" sz="1600" b="1" kern="1200"/>
            <a:t>synapse</a:t>
          </a:r>
          <a:r>
            <a:rPr lang="en-CA" sz="1600" kern="1200"/>
            <a:t> (a gap between neurons).</a:t>
          </a:r>
          <a:endParaRPr lang="en-US" sz="1600" kern="1200"/>
        </a:p>
      </dsp:txBody>
      <dsp:txXfrm>
        <a:off x="4534878" y="49046"/>
        <a:ext cx="2623198" cy="1535696"/>
      </dsp:txXfrm>
    </dsp:sp>
    <dsp:sp modelId="{91A7A059-BACF-C64F-817B-0D2054E642A1}">
      <dsp:nvSpPr>
        <dsp:cNvPr id="0" name=""/>
        <dsp:cNvSpPr/>
      </dsp:nvSpPr>
      <dsp:spPr>
        <a:xfrm rot="5400000">
          <a:off x="5558290" y="1822833"/>
          <a:ext cx="576376" cy="67425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5644203" y="1871771"/>
        <a:ext cx="404551" cy="403463"/>
      </dsp:txXfrm>
    </dsp:sp>
    <dsp:sp modelId="{2C5ACF5A-A171-6644-BD1F-DCF082135E87}">
      <dsp:nvSpPr>
        <dsp:cNvPr id="0" name=""/>
        <dsp:cNvSpPr/>
      </dsp:nvSpPr>
      <dsp:spPr>
        <a:xfrm>
          <a:off x="4487100" y="2720022"/>
          <a:ext cx="2718754" cy="163125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kern="1200"/>
            <a:t>Once it delivers its message, dopamine is </a:t>
          </a:r>
          <a:r>
            <a:rPr lang="en-CA" sz="1600" b="1" kern="1200"/>
            <a:t>recycled</a:t>
          </a:r>
          <a:r>
            <a:rPr lang="en-CA" sz="1600" kern="1200"/>
            <a:t> — it's taken back up into the neuron that released it by a special protein called the </a:t>
          </a:r>
          <a:r>
            <a:rPr lang="en-CA" sz="1600" b="1" kern="1200"/>
            <a:t>dopamine transporter (DAT)</a:t>
          </a:r>
          <a:r>
            <a:rPr lang="en-CA" sz="1600" kern="1200"/>
            <a:t>.</a:t>
          </a:r>
          <a:endParaRPr lang="en-US" sz="1600" kern="1200"/>
        </a:p>
      </dsp:txBody>
      <dsp:txXfrm>
        <a:off x="4534878" y="2767800"/>
        <a:ext cx="2623198" cy="15356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AB4A1-11F0-4E38-A64E-CBC96BA35014}">
      <dsp:nvSpPr>
        <dsp:cNvPr id="0" name=""/>
        <dsp:cNvSpPr/>
      </dsp:nvSpPr>
      <dsp:spPr>
        <a:xfrm>
          <a:off x="0" y="899622"/>
          <a:ext cx="5175384" cy="1660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529B42-1446-493F-ADAA-582F1D6BC6CC}">
      <dsp:nvSpPr>
        <dsp:cNvPr id="0" name=""/>
        <dsp:cNvSpPr/>
      </dsp:nvSpPr>
      <dsp:spPr>
        <a:xfrm>
          <a:off x="502404" y="1273312"/>
          <a:ext cx="913463" cy="9134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AFAB5B-6DF8-4410-A905-C037BF4064E1}">
      <dsp:nvSpPr>
        <dsp:cNvPr id="0" name=""/>
        <dsp:cNvSpPr/>
      </dsp:nvSpPr>
      <dsp:spPr>
        <a:xfrm>
          <a:off x="1918272" y="899622"/>
          <a:ext cx="3257111"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1066800">
            <a:lnSpc>
              <a:spcPct val="100000"/>
            </a:lnSpc>
            <a:spcBef>
              <a:spcPct val="0"/>
            </a:spcBef>
            <a:spcAft>
              <a:spcPct val="35000"/>
            </a:spcAft>
            <a:buNone/>
          </a:pPr>
          <a:r>
            <a:rPr lang="en-CA" sz="2400" kern="1200" dirty="0"/>
            <a:t>Over time, the brain </a:t>
          </a:r>
          <a:r>
            <a:rPr lang="en-CA" sz="2400" b="1" kern="1200" dirty="0"/>
            <a:t>adapts</a:t>
          </a:r>
          <a:endParaRPr lang="en-US" sz="2400" kern="1200" dirty="0"/>
        </a:p>
      </dsp:txBody>
      <dsp:txXfrm>
        <a:off x="1918272" y="899622"/>
        <a:ext cx="3257111" cy="1660842"/>
      </dsp:txXfrm>
    </dsp:sp>
    <dsp:sp modelId="{8D12441F-BE7E-494B-9E50-103B42A7A2F8}">
      <dsp:nvSpPr>
        <dsp:cNvPr id="0" name=""/>
        <dsp:cNvSpPr/>
      </dsp:nvSpPr>
      <dsp:spPr>
        <a:xfrm>
          <a:off x="0" y="2975675"/>
          <a:ext cx="5175384" cy="166084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90FF4-0807-438F-AA91-D7FA3965F99C}">
      <dsp:nvSpPr>
        <dsp:cNvPr id="0" name=""/>
        <dsp:cNvSpPr/>
      </dsp:nvSpPr>
      <dsp:spPr>
        <a:xfrm>
          <a:off x="525670" y="3434591"/>
          <a:ext cx="913463" cy="9134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402187-26BB-4483-AE4D-4910B1A81692}">
      <dsp:nvSpPr>
        <dsp:cNvPr id="0" name=""/>
        <dsp:cNvSpPr/>
      </dsp:nvSpPr>
      <dsp:spPr>
        <a:xfrm>
          <a:off x="1918272" y="2975675"/>
          <a:ext cx="3257111" cy="1660842"/>
        </a:xfrm>
        <a:prstGeom prst="rect">
          <a:avLst/>
        </a:prstGeom>
        <a:noFill/>
        <a:ln w="25400"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175772" tIns="175772" rIns="175772" bIns="175772" numCol="1" spcCol="1270" anchor="ctr" anchorCtr="0">
          <a:noAutofit/>
        </a:bodyPr>
        <a:lstStyle/>
        <a:p>
          <a:pPr marL="0" lvl="0" indent="0" algn="l" defTabSz="1066800">
            <a:lnSpc>
              <a:spcPct val="100000"/>
            </a:lnSpc>
            <a:spcBef>
              <a:spcPct val="0"/>
            </a:spcBef>
            <a:spcAft>
              <a:spcPct val="35000"/>
            </a:spcAft>
            <a:buNone/>
          </a:pPr>
          <a:r>
            <a:rPr lang="en-CA" sz="2400" kern="1200" dirty="0"/>
            <a:t>This leads to </a:t>
          </a:r>
          <a:r>
            <a:rPr lang="en-CA" sz="2400" b="1" kern="1200" dirty="0"/>
            <a:t>tolerance, craving</a:t>
          </a:r>
          <a:r>
            <a:rPr lang="en-CA" sz="2400" kern="1200" dirty="0"/>
            <a:t>, and a </a:t>
          </a:r>
          <a:r>
            <a:rPr lang="en-CA" sz="2400" b="1" kern="1200" dirty="0"/>
            <a:t>cycle of addiction</a:t>
          </a:r>
          <a:r>
            <a:rPr lang="en-CA" sz="2400" kern="1200" dirty="0"/>
            <a:t>.</a:t>
          </a:r>
          <a:endParaRPr lang="en-US" sz="2400" kern="1200" dirty="0"/>
        </a:p>
      </dsp:txBody>
      <dsp:txXfrm>
        <a:off x="1918272" y="2975675"/>
        <a:ext cx="3257111" cy="16608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DF08F-6AA9-4F2C-BC92-1ED02D01F2C3}">
      <dsp:nvSpPr>
        <dsp:cNvPr id="0" name=""/>
        <dsp:cNvSpPr/>
      </dsp:nvSpPr>
      <dsp:spPr>
        <a:xfrm>
          <a:off x="0" y="707288"/>
          <a:ext cx="7886700" cy="13057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5E99AF-94C8-416E-8290-9A5FC1A28ADD}">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DEBF92-5412-4EE6-8B48-B3ED9AEFA32F}">
      <dsp:nvSpPr>
        <dsp:cNvPr id="0" name=""/>
        <dsp:cNvSpPr/>
      </dsp:nvSpPr>
      <dsp:spPr>
        <a:xfrm>
          <a:off x="1508156" y="707288"/>
          <a:ext cx="63785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066800">
            <a:lnSpc>
              <a:spcPct val="100000"/>
            </a:lnSpc>
            <a:spcBef>
              <a:spcPct val="0"/>
            </a:spcBef>
            <a:spcAft>
              <a:spcPct val="35000"/>
            </a:spcAft>
            <a:buNone/>
          </a:pPr>
          <a:r>
            <a:rPr lang="en-US" sz="2400" kern="1200"/>
            <a:t>1. Are there differences in dopamine-associated gene expression between male and female mice?</a:t>
          </a:r>
        </a:p>
      </dsp:txBody>
      <dsp:txXfrm>
        <a:off x="1508156" y="707288"/>
        <a:ext cx="6378543" cy="1305763"/>
      </dsp:txXfrm>
    </dsp:sp>
    <dsp:sp modelId="{AC55B7F3-3DE1-4562-AC19-1C4047BE3201}">
      <dsp:nvSpPr>
        <dsp:cNvPr id="0" name=""/>
        <dsp:cNvSpPr/>
      </dsp:nvSpPr>
      <dsp:spPr>
        <a:xfrm>
          <a:off x="0" y="2339492"/>
          <a:ext cx="7886700" cy="13057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D08A95-ED53-4D4D-8A5F-690D58627FC2}">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2C5182-07A5-4DF9-80B7-263B7BE2C61C}">
      <dsp:nvSpPr>
        <dsp:cNvPr id="0" name=""/>
        <dsp:cNvSpPr/>
      </dsp:nvSpPr>
      <dsp:spPr>
        <a:xfrm>
          <a:off x="1508156" y="2339492"/>
          <a:ext cx="63785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066800">
            <a:lnSpc>
              <a:spcPct val="100000"/>
            </a:lnSpc>
            <a:spcBef>
              <a:spcPct val="0"/>
            </a:spcBef>
            <a:spcAft>
              <a:spcPct val="35000"/>
            </a:spcAft>
            <a:buNone/>
          </a:pPr>
          <a:r>
            <a:rPr lang="en-US" sz="2400" kern="1200" dirty="0"/>
            <a:t>2. Are there gene expression differences </a:t>
          </a:r>
          <a:r>
            <a:rPr lang="en-CA" sz="2400" kern="1200" dirty="0"/>
            <a:t>of these genes </a:t>
          </a:r>
          <a:r>
            <a:rPr lang="en-US" sz="2400" b="1" kern="1200" dirty="0"/>
            <a:t>after 28 days of cocaine withdrawal?</a:t>
          </a:r>
        </a:p>
      </dsp:txBody>
      <dsp:txXfrm>
        <a:off x="1508156" y="2339492"/>
        <a:ext cx="6378543" cy="13057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AC9D4-13C3-EB43-8F05-0746B340C8F2}">
      <dsp:nvSpPr>
        <dsp:cNvPr id="0" name=""/>
        <dsp:cNvSpPr/>
      </dsp:nvSpPr>
      <dsp:spPr>
        <a:xfrm>
          <a:off x="472" y="1251435"/>
          <a:ext cx="1657660" cy="105261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1C9822-C358-0242-9671-86FA822F6171}">
      <dsp:nvSpPr>
        <dsp:cNvPr id="0" name=""/>
        <dsp:cNvSpPr/>
      </dsp:nvSpPr>
      <dsp:spPr>
        <a:xfrm>
          <a:off x="184656" y="1426410"/>
          <a:ext cx="1657660" cy="1052614"/>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Tools: R, tidyverse, ggplot2.</a:t>
          </a:r>
        </a:p>
      </dsp:txBody>
      <dsp:txXfrm>
        <a:off x="215486" y="1457240"/>
        <a:ext cx="1596000" cy="990954"/>
      </dsp:txXfrm>
    </dsp:sp>
    <dsp:sp modelId="{971694F4-BB49-2649-B315-9AC7655FA8C1}">
      <dsp:nvSpPr>
        <dsp:cNvPr id="0" name=""/>
        <dsp:cNvSpPr/>
      </dsp:nvSpPr>
      <dsp:spPr>
        <a:xfrm>
          <a:off x="2026502" y="1251435"/>
          <a:ext cx="1657660" cy="105261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2A72AA-FB97-4B4F-BD08-1132DC8672C2}">
      <dsp:nvSpPr>
        <dsp:cNvPr id="0" name=""/>
        <dsp:cNvSpPr/>
      </dsp:nvSpPr>
      <dsp:spPr>
        <a:xfrm>
          <a:off x="2210686" y="1426410"/>
          <a:ext cx="1657660" cy="1052614"/>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Statistical Test: Linear model (lm) for Sex and Condition effects on expression.</a:t>
          </a:r>
        </a:p>
      </dsp:txBody>
      <dsp:txXfrm>
        <a:off x="2241516" y="1457240"/>
        <a:ext cx="1596000" cy="990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EC1D9-E6AC-2B49-8C2D-FB48237AD1E5}">
      <dsp:nvSpPr>
        <dsp:cNvPr id="0" name=""/>
        <dsp:cNvSpPr/>
      </dsp:nvSpPr>
      <dsp:spPr>
        <a:xfrm>
          <a:off x="0" y="4274295"/>
          <a:ext cx="4358346" cy="140291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Groups: Male vs Female, Cocaine-treated vs Naive.</a:t>
          </a:r>
        </a:p>
      </dsp:txBody>
      <dsp:txXfrm>
        <a:off x="0" y="4274295"/>
        <a:ext cx="4358346" cy="1402919"/>
      </dsp:txXfrm>
    </dsp:sp>
    <dsp:sp modelId="{AE66AF1C-4D1C-934D-8FB9-7EFC38A1DD96}">
      <dsp:nvSpPr>
        <dsp:cNvPr id="0" name=""/>
        <dsp:cNvSpPr/>
      </dsp:nvSpPr>
      <dsp:spPr>
        <a:xfrm rot="10800000">
          <a:off x="0" y="2137649"/>
          <a:ext cx="4358346" cy="2157689"/>
        </a:xfrm>
        <a:prstGeom prst="upArrowCallou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Preprocessing: Converted to long format, cleaned sample names, and log-transformed expression values.</a:t>
          </a:r>
        </a:p>
      </dsp:txBody>
      <dsp:txXfrm rot="10800000">
        <a:off x="0" y="2137649"/>
        <a:ext cx="4358346" cy="1402002"/>
      </dsp:txXfrm>
    </dsp:sp>
    <dsp:sp modelId="{6D5BF5F3-8E5C-684E-9FBB-0BE5AB46F68A}">
      <dsp:nvSpPr>
        <dsp:cNvPr id="0" name=""/>
        <dsp:cNvSpPr/>
      </dsp:nvSpPr>
      <dsp:spPr>
        <a:xfrm rot="10800000">
          <a:off x="0" y="1003"/>
          <a:ext cx="4358346" cy="2157689"/>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Dataset: RNA-seq gene expression data from mouse nucleus </a:t>
          </a:r>
          <a:r>
            <a:rPr lang="en-US" sz="2100" kern="1200" dirty="0" err="1"/>
            <a:t>accumbens</a:t>
          </a:r>
          <a:r>
            <a:rPr lang="en-US" sz="2100" kern="1200" dirty="0"/>
            <a:t>.</a:t>
          </a:r>
        </a:p>
      </dsp:txBody>
      <dsp:txXfrm rot="10800000">
        <a:off x="0" y="1003"/>
        <a:ext cx="4358346" cy="14020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466CF-1F37-D04C-8FE0-86810289D0EC}">
      <dsp:nvSpPr>
        <dsp:cNvPr id="0" name=""/>
        <dsp:cNvSpPr/>
      </dsp:nvSpPr>
      <dsp:spPr>
        <a:xfrm>
          <a:off x="0" y="1450"/>
          <a:ext cx="5175384"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 Downregulation of </a:t>
          </a:r>
          <a:r>
            <a:rPr lang="en-US" sz="1900" kern="1200" dirty="0" err="1"/>
            <a:t>Drd</a:t>
          </a:r>
          <a:r>
            <a:rPr lang="en-US" sz="1900" kern="1200" dirty="0"/>
            <a:t> genes suggests lasting neuroadaptation after cocaine exposure.</a:t>
          </a:r>
        </a:p>
      </dsp:txBody>
      <dsp:txXfrm>
        <a:off x="51885" y="53335"/>
        <a:ext cx="5071614" cy="959101"/>
      </dsp:txXfrm>
    </dsp:sp>
    <dsp:sp modelId="{7301CF9D-7CAA-7147-82D9-8609C53ED5DD}">
      <dsp:nvSpPr>
        <dsp:cNvPr id="0" name=""/>
        <dsp:cNvSpPr/>
      </dsp:nvSpPr>
      <dsp:spPr>
        <a:xfrm>
          <a:off x="0" y="1119042"/>
          <a:ext cx="5175384"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kern="1200" dirty="0"/>
            <a:t>*Drd1 and Drd3 among genes showing altered regulation post-cocaine</a:t>
          </a:r>
          <a:endParaRPr lang="en-US" sz="1900" kern="1200" dirty="0"/>
        </a:p>
      </dsp:txBody>
      <dsp:txXfrm>
        <a:off x="51885" y="1170927"/>
        <a:ext cx="5071614" cy="959101"/>
      </dsp:txXfrm>
    </dsp:sp>
    <dsp:sp modelId="{D8C6B9C4-6CCA-754D-9D53-EC982A1EFCA9}">
      <dsp:nvSpPr>
        <dsp:cNvPr id="0" name=""/>
        <dsp:cNvSpPr/>
      </dsp:nvSpPr>
      <dsp:spPr>
        <a:xfrm>
          <a:off x="0" y="2236634"/>
          <a:ext cx="5175384"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 Lower receptor expression may reflect decreased sensitivity to dopamine and impaired pleasure response.</a:t>
          </a:r>
        </a:p>
      </dsp:txBody>
      <dsp:txXfrm>
        <a:off x="51885" y="2288519"/>
        <a:ext cx="5071614" cy="959101"/>
      </dsp:txXfrm>
    </dsp:sp>
    <dsp:sp modelId="{D3FE9ED5-C322-D241-9D9C-CBCF867496D7}">
      <dsp:nvSpPr>
        <dsp:cNvPr id="0" name=""/>
        <dsp:cNvSpPr/>
      </dsp:nvSpPr>
      <dsp:spPr>
        <a:xfrm>
          <a:off x="0" y="3354226"/>
          <a:ext cx="5175384"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This supports the idea that chronic cocaine use causes the brain to adapt by reducing receptor availability, even after withdrawal.</a:t>
          </a:r>
        </a:p>
      </dsp:txBody>
      <dsp:txXfrm>
        <a:off x="51885" y="3406111"/>
        <a:ext cx="5071614" cy="959101"/>
      </dsp:txXfrm>
    </dsp:sp>
    <dsp:sp modelId="{A4597F98-EC96-B94C-A32F-2A31E684AF4D}">
      <dsp:nvSpPr>
        <dsp:cNvPr id="0" name=""/>
        <dsp:cNvSpPr/>
      </dsp:nvSpPr>
      <dsp:spPr>
        <a:xfrm>
          <a:off x="0" y="4471818"/>
          <a:ext cx="5175384"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 Downregulation of Drd3, is linked to emotional regulation and drug craving — key aspects of relapse vulnerability.</a:t>
          </a:r>
        </a:p>
      </dsp:txBody>
      <dsp:txXfrm>
        <a:off x="51885" y="4523703"/>
        <a:ext cx="5071614" cy="9591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524AF2-85AC-5B4E-9C84-68AB9314B4F7}">
      <dsp:nvSpPr>
        <dsp:cNvPr id="0" name=""/>
        <dsp:cNvSpPr/>
      </dsp:nvSpPr>
      <dsp:spPr>
        <a:xfrm>
          <a:off x="0" y="2703"/>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37F9E6-4EE4-E84D-931D-CDAB694C9991}">
      <dsp:nvSpPr>
        <dsp:cNvPr id="0" name=""/>
        <dsp:cNvSpPr/>
      </dsp:nvSpPr>
      <dsp:spPr>
        <a:xfrm>
          <a:off x="0" y="2703"/>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Preliminary findings suggest possible sex and withdrawal effects on dopamine genes.</a:t>
          </a:r>
        </a:p>
      </dsp:txBody>
      <dsp:txXfrm>
        <a:off x="0" y="2703"/>
        <a:ext cx="5175384" cy="1843578"/>
      </dsp:txXfrm>
    </dsp:sp>
    <dsp:sp modelId="{610736BF-2238-1A4E-B785-99C5204B0C71}">
      <dsp:nvSpPr>
        <dsp:cNvPr id="0" name=""/>
        <dsp:cNvSpPr/>
      </dsp:nvSpPr>
      <dsp:spPr>
        <a:xfrm>
          <a:off x="0" y="1846281"/>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C8671E-4C2F-4F46-98E1-8F5606C51823}">
      <dsp:nvSpPr>
        <dsp:cNvPr id="0" name=""/>
        <dsp:cNvSpPr/>
      </dsp:nvSpPr>
      <dsp:spPr>
        <a:xfrm>
          <a:off x="0" y="1846281"/>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Drd3 shows trends worth deeper investigation.</a:t>
          </a:r>
        </a:p>
      </dsp:txBody>
      <dsp:txXfrm>
        <a:off x="0" y="1846281"/>
        <a:ext cx="5175384" cy="1843578"/>
      </dsp:txXfrm>
    </dsp:sp>
    <dsp:sp modelId="{82F34F6E-D260-5E42-82CB-8997F4DB0507}">
      <dsp:nvSpPr>
        <dsp:cNvPr id="0" name=""/>
        <dsp:cNvSpPr/>
      </dsp:nvSpPr>
      <dsp:spPr>
        <a:xfrm>
          <a:off x="0" y="3689859"/>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A9DD49-F9DA-8C40-BEDC-4F2790A31BF6}">
      <dsp:nvSpPr>
        <dsp:cNvPr id="0" name=""/>
        <dsp:cNvSpPr/>
      </dsp:nvSpPr>
      <dsp:spPr>
        <a:xfrm>
          <a:off x="0" y="3689859"/>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Future: expand analysis to more genes, increase statistical power, and explore time-course effects.</a:t>
          </a:r>
        </a:p>
      </dsp:txBody>
      <dsp:txXfrm>
        <a:off x="0" y="3689859"/>
        <a:ext cx="5175384" cy="184357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3FB65-B693-D54B-83BB-334A1D74111D}" type="datetimeFigureOut">
              <a:rPr lang="en-US" smtClean="0"/>
              <a:t>4/14/25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6758C-8A38-8F4D-BA3C-C171DA83FC6B}" type="slidenum">
              <a:rPr lang="en-US" smtClean="0"/>
              <a:t>‹#›</a:t>
            </a:fld>
            <a:endParaRPr lang="en-US"/>
          </a:p>
        </p:txBody>
      </p:sp>
    </p:spTree>
    <p:extLst>
      <p:ext uri="{BB962C8B-B14F-4D97-AF65-F5344CB8AC3E}">
        <p14:creationId xmlns:p14="http://schemas.microsoft.com/office/powerpoint/2010/main" val="345768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sciencedirect.com/topics/psychology/dopamine-receptor-gene"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oi.org/10.1016/j.neulet.2008.05.07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dirty="0"/>
              <a:t>Cocaine addiction is a complex neuropsychiatric disorder that hijacks the brain's reward and motivation systems, particularly the </a:t>
            </a:r>
            <a:r>
              <a:rPr lang="en-CA" sz="1200" b="1" dirty="0"/>
              <a:t>dopaminergic pathways</a:t>
            </a:r>
            <a:r>
              <a:rPr lang="en-CA" sz="1200" dirty="0"/>
              <a:t> centered in the </a:t>
            </a:r>
            <a:r>
              <a:rPr lang="en-CA" sz="1200" b="1" dirty="0"/>
              <a:t>nucleus </a:t>
            </a:r>
            <a:r>
              <a:rPr lang="en-CA" sz="1200" b="1" dirty="0" err="1"/>
              <a:t>accumbens</a:t>
            </a:r>
            <a:r>
              <a:rPr lang="en-CA" sz="1200" b="1" dirty="0"/>
              <a:t> (</a:t>
            </a:r>
            <a:r>
              <a:rPr lang="en-CA" sz="1200" b="1" dirty="0" err="1"/>
              <a:t>NAc</a:t>
            </a:r>
            <a:r>
              <a:rPr lang="en-CA" sz="1200" b="1" dirty="0"/>
              <a:t>)</a:t>
            </a:r>
            <a:r>
              <a:rPr lang="en-CA" sz="1200" dirty="0"/>
              <a:t>. Chronic cocaine use elevates synaptic dopamine levels, triggering adaptive molecular and cellular changes that lead to tolerance, craving, and relapse. One of the most consistent findings in addiction neuroscience is the </a:t>
            </a:r>
            <a:r>
              <a:rPr lang="en-CA" sz="1200" b="1" dirty="0"/>
              <a:t>long-lasting dysregulation of dopamine receptor signaling</a:t>
            </a:r>
            <a:r>
              <a:rPr lang="en-CA" sz="1200" dirty="0"/>
              <a:t>, which varies between males and females.</a:t>
            </a:r>
          </a:p>
          <a:p>
            <a:r>
              <a:rPr lang="en-CA" sz="1200" dirty="0"/>
              <a:t>In this study, we focused on a select group of dopamine-related genes that play key roles in the brain's response to cocaine:</a:t>
            </a:r>
          </a:p>
          <a:p>
            <a:pPr>
              <a:buFont typeface="Arial" panose="020B0604020202020204" pitchFamily="34" charset="0"/>
              <a:buChar char="•"/>
            </a:pPr>
            <a:endParaRPr lang="en-CA" sz="1200" dirty="0"/>
          </a:p>
          <a:p>
            <a:r>
              <a:rPr lang="en-CA" sz="1200" dirty="0"/>
              <a:t>Research suggests that female rodents exhibit faster acquisition of cocaine self-administration and altered dopamine receptor expression, particularly following hormonal changes such as estradiol treatment (Hu, el at., 2004) .These findings highlight the importance of considering sex as a biological variable in addiction studies.</a:t>
            </a:r>
          </a:p>
          <a:p>
            <a:r>
              <a:rPr lang="en-CA" sz="1200" dirty="0"/>
              <a:t>Additionally, the role of </a:t>
            </a:r>
            <a:r>
              <a:rPr lang="en-CA" sz="1200" b="1" dirty="0"/>
              <a:t>dopamine receptor gene variation</a:t>
            </a:r>
            <a:r>
              <a:rPr lang="en-CA" sz="1200" dirty="0"/>
              <a:t> has been explored in multiple neuropsychiatric contexts, further supporting their central role in behavioural regulation, impulsivity, and substance abuse risk (</a:t>
            </a:r>
            <a:r>
              <a:rPr lang="en-CA" sz="1200" dirty="0">
                <a:hlinkClick r:id="rId3"/>
              </a:rPr>
              <a:t>ScienceDirect Topic Summary on Dopamine Receptor Genes</a:t>
            </a:r>
            <a:r>
              <a:rPr lang="en-CA" sz="1200" dirty="0"/>
              <a:t>).</a:t>
            </a:r>
          </a:p>
          <a:p>
            <a:endParaRPr lang="en-CA" sz="1200" dirty="0"/>
          </a:p>
          <a:p>
            <a:r>
              <a:rPr lang="en-CA" sz="1200" dirty="0"/>
              <a:t>By focusing on </a:t>
            </a:r>
            <a:r>
              <a:rPr lang="en-CA" sz="1200" b="1" dirty="0" err="1"/>
              <a:t>Cartpt</a:t>
            </a:r>
            <a:r>
              <a:rPr lang="en-CA" sz="1200" dirty="0"/>
              <a:t> and the </a:t>
            </a:r>
            <a:r>
              <a:rPr lang="en-CA" sz="1200" b="1" dirty="0"/>
              <a:t>Drd1–Drd5 receptor genes</a:t>
            </a:r>
            <a:r>
              <a:rPr lang="en-CA" sz="1200" dirty="0"/>
              <a:t>, this study aims to evaluate how </a:t>
            </a:r>
            <a:r>
              <a:rPr lang="en-CA" sz="1200" b="1" dirty="0"/>
              <a:t>sex</a:t>
            </a:r>
            <a:r>
              <a:rPr lang="en-CA" sz="1200" dirty="0"/>
              <a:t> and </a:t>
            </a:r>
            <a:r>
              <a:rPr lang="en-CA" sz="1200" b="1" dirty="0"/>
              <a:t>28-day cocaine withdrawal</a:t>
            </a:r>
            <a:r>
              <a:rPr lang="en-CA" sz="1200" dirty="0"/>
              <a:t> influence gene expression in the </a:t>
            </a:r>
            <a:r>
              <a:rPr lang="en-CA" sz="1200" dirty="0" err="1"/>
              <a:t>NAc</a:t>
            </a:r>
            <a:r>
              <a:rPr lang="en-CA" sz="1200" dirty="0"/>
              <a:t>. These genes offer valuable insight into how the brain adapts to prolonged stimulant exposure and may help explain sex-specific vulnerabilities in addiction.</a:t>
            </a:r>
          </a:p>
          <a:p>
            <a:r>
              <a:rPr lang="en-US" dirty="0"/>
              <a:t>-------------------</a:t>
            </a:r>
          </a:p>
          <a:p>
            <a:r>
              <a:rPr lang="en-US" dirty="0"/>
              <a:t>Reference</a:t>
            </a:r>
          </a:p>
          <a:p>
            <a:endParaRPr lang="en-US" dirty="0"/>
          </a:p>
          <a:p>
            <a:r>
              <a:rPr lang="en-CA" b="0" i="0" dirty="0">
                <a:solidFill>
                  <a:srgbClr val="1B1B1B"/>
                </a:solidFill>
                <a:effectLst/>
                <a:latin typeface="Roboto Mono Web"/>
              </a:rPr>
              <a:t>Zhang L, Lou D, Jiao H, Zhang D, Wang X, Xia Y, Zhang J, Xu M. Cocaine-induced intracellular signaling and gene expression are oppositely regulated by the dopamine D1 and D3 receptors. J </a:t>
            </a:r>
            <a:r>
              <a:rPr lang="en-CA" b="0" i="0" dirty="0" err="1">
                <a:solidFill>
                  <a:srgbClr val="1B1B1B"/>
                </a:solidFill>
                <a:effectLst/>
                <a:latin typeface="Roboto Mono Web"/>
              </a:rPr>
              <a:t>Neurosci</a:t>
            </a:r>
            <a:r>
              <a:rPr lang="en-CA" b="0" i="0" dirty="0">
                <a:solidFill>
                  <a:srgbClr val="1B1B1B"/>
                </a:solidFill>
                <a:effectLst/>
                <a:latin typeface="Roboto Mono Web"/>
              </a:rPr>
              <a:t>. 2004 Mar 31;24(13):3344-54. </a:t>
            </a:r>
            <a:r>
              <a:rPr lang="en-CA" b="0" i="0" dirty="0" err="1">
                <a:solidFill>
                  <a:srgbClr val="1B1B1B"/>
                </a:solidFill>
                <a:effectLst/>
                <a:latin typeface="Roboto Mono Web"/>
              </a:rPr>
              <a:t>doi</a:t>
            </a:r>
            <a:r>
              <a:rPr lang="en-CA" b="0" i="0" dirty="0">
                <a:solidFill>
                  <a:srgbClr val="1B1B1B"/>
                </a:solidFill>
                <a:effectLst/>
                <a:latin typeface="Roboto Mono Web"/>
              </a:rPr>
              <a:t>: 10.1523/JNEUROSCI.0060-04.2004. PMID: 15056714; PMCID: PMC6730011.</a:t>
            </a:r>
          </a:p>
          <a:p>
            <a:endParaRPr lang="en-CA" b="0" i="0" dirty="0">
              <a:solidFill>
                <a:srgbClr val="1B1B1B"/>
              </a:solidFill>
              <a:effectLst/>
              <a:latin typeface="Roboto Mono Web"/>
            </a:endParaRPr>
          </a:p>
          <a:p>
            <a:r>
              <a:rPr lang="en-CA" dirty="0" err="1"/>
              <a:t>Lohoff</a:t>
            </a:r>
            <a:r>
              <a:rPr lang="en-CA" dirty="0"/>
              <a:t>, F. W., Bloch, P. J., Weller, A. E., Nall, A. H., Doyle, G. A., </a:t>
            </a:r>
            <a:r>
              <a:rPr lang="en-CA" dirty="0" err="1"/>
              <a:t>Buono</a:t>
            </a:r>
            <a:r>
              <a:rPr lang="en-CA" dirty="0"/>
              <a:t>, R. J., Ferraro, T. N., </a:t>
            </a:r>
            <a:r>
              <a:rPr lang="en-CA" dirty="0" err="1"/>
              <a:t>Kampman</a:t>
            </a:r>
            <a:r>
              <a:rPr lang="en-CA" dirty="0"/>
              <a:t>, K. M., </a:t>
            </a:r>
            <a:r>
              <a:rPr lang="en-CA" dirty="0" err="1"/>
              <a:t>Pettinati</a:t>
            </a:r>
            <a:r>
              <a:rPr lang="en-CA" dirty="0"/>
              <a:t>, H. M., </a:t>
            </a:r>
            <a:r>
              <a:rPr lang="en-CA" dirty="0" err="1"/>
              <a:t>Dackis</a:t>
            </a:r>
            <a:r>
              <a:rPr lang="en-CA" dirty="0"/>
              <a:t>, C. A., </a:t>
            </a:r>
            <a:r>
              <a:rPr lang="en-CA" dirty="0" err="1"/>
              <a:t>Oslin</a:t>
            </a:r>
            <a:r>
              <a:rPr lang="en-CA" dirty="0"/>
              <a:t>, D. W., O’Brien, C. P., &amp; </a:t>
            </a:r>
            <a:r>
              <a:rPr lang="en-CA" dirty="0" err="1"/>
              <a:t>Berrettini</a:t>
            </a:r>
            <a:r>
              <a:rPr lang="en-CA" dirty="0"/>
              <a:t>, W. H. (2008). Genetic variants in the cocaine- and amphetamine-regulated transcript gene (CARTPT) and cocaine dependence. </a:t>
            </a:r>
            <a:r>
              <a:rPr lang="en-CA" i="1" dirty="0"/>
              <a:t>Neuroscience Letters, 440</a:t>
            </a:r>
            <a:r>
              <a:rPr lang="en-CA" dirty="0"/>
              <a:t>(3), 280–283. </a:t>
            </a:r>
            <a:r>
              <a:rPr lang="en-CA" dirty="0">
                <a:hlinkClick r:id="rId4"/>
              </a:rPr>
              <a:t>https://doi.org/10.1016/j.neulet.2008.05.073</a:t>
            </a:r>
            <a:endParaRPr lang="en-CA" dirty="0"/>
          </a:p>
          <a:p>
            <a:endParaRPr lang="en-CA" dirty="0"/>
          </a:p>
          <a:p>
            <a:r>
              <a:rPr lang="en-CA" b="0" i="0" dirty="0" err="1">
                <a:solidFill>
                  <a:srgbClr val="212121"/>
                </a:solidFill>
                <a:effectLst/>
                <a:latin typeface="system-ui"/>
              </a:rPr>
              <a:t>Ozburn</a:t>
            </a:r>
            <a:r>
              <a:rPr lang="en-CA" b="0" i="0" dirty="0">
                <a:solidFill>
                  <a:srgbClr val="212121"/>
                </a:solidFill>
                <a:effectLst/>
                <a:latin typeface="system-ui"/>
              </a:rPr>
              <a:t> AR, Falcon E, Twaddle A, Nugent AL, Gillman AG, Spencer SM, </a:t>
            </a:r>
            <a:r>
              <a:rPr lang="en-CA" b="0" i="0" dirty="0" err="1">
                <a:solidFill>
                  <a:srgbClr val="212121"/>
                </a:solidFill>
                <a:effectLst/>
                <a:latin typeface="system-ui"/>
              </a:rPr>
              <a:t>Arey</a:t>
            </a:r>
            <a:r>
              <a:rPr lang="en-CA" b="0" i="0" dirty="0">
                <a:solidFill>
                  <a:srgbClr val="212121"/>
                </a:solidFill>
                <a:effectLst/>
                <a:latin typeface="system-ui"/>
              </a:rPr>
              <a:t> RN, Mukherjee S, Lyons-</a:t>
            </a:r>
            <a:r>
              <a:rPr lang="en-CA" b="0" i="0" dirty="0" err="1">
                <a:solidFill>
                  <a:srgbClr val="212121"/>
                </a:solidFill>
                <a:effectLst/>
                <a:latin typeface="system-ui"/>
              </a:rPr>
              <a:t>Weiler</a:t>
            </a:r>
            <a:r>
              <a:rPr lang="en-CA" b="0" i="0" dirty="0">
                <a:solidFill>
                  <a:srgbClr val="212121"/>
                </a:solidFill>
                <a:effectLst/>
                <a:latin typeface="system-ui"/>
              </a:rPr>
              <a:t> J, Self DW, McClung CA. Direct regulation of diurnal Drd3 expression and cocaine reward by NPAS2. Biol Psychiatry. 2015 Mar 1;77(5):425-433. </a:t>
            </a:r>
            <a:r>
              <a:rPr lang="en-CA" b="0" i="0" dirty="0" err="1">
                <a:solidFill>
                  <a:srgbClr val="212121"/>
                </a:solidFill>
                <a:effectLst/>
                <a:latin typeface="system-ui"/>
              </a:rPr>
              <a:t>doi</a:t>
            </a:r>
            <a:r>
              <a:rPr lang="en-CA" b="0" i="0" dirty="0">
                <a:solidFill>
                  <a:srgbClr val="212121"/>
                </a:solidFill>
                <a:effectLst/>
                <a:latin typeface="system-ui"/>
              </a:rPr>
              <a:t>: 10.1016/j.biopsych.2014.07.030. </a:t>
            </a:r>
            <a:r>
              <a:rPr lang="en-CA" b="0" i="0" dirty="0" err="1">
                <a:solidFill>
                  <a:srgbClr val="212121"/>
                </a:solidFill>
                <a:effectLst/>
                <a:latin typeface="system-ui"/>
              </a:rPr>
              <a:t>Epub</a:t>
            </a:r>
            <a:r>
              <a:rPr lang="en-CA" b="0" i="0" dirty="0">
                <a:solidFill>
                  <a:srgbClr val="212121"/>
                </a:solidFill>
                <a:effectLst/>
                <a:latin typeface="system-ui"/>
              </a:rPr>
              <a:t> 2014 Aug 13. PMID: 25444159; PMCID: PMC4315729.</a:t>
            </a:r>
          </a:p>
          <a:p>
            <a:endParaRPr lang="en-CA" b="0" i="0" dirty="0">
              <a:solidFill>
                <a:srgbClr val="212121"/>
              </a:solidFill>
              <a:effectLst/>
              <a:latin typeface="system-ui"/>
            </a:endParaRPr>
          </a:p>
          <a:p>
            <a:r>
              <a:rPr lang="en-CA" b="0" i="0" dirty="0">
                <a:solidFill>
                  <a:srgbClr val="222222"/>
                </a:solidFill>
                <a:effectLst/>
                <a:latin typeface="-apple-system"/>
              </a:rPr>
              <a:t>Hu, M., </a:t>
            </a:r>
            <a:r>
              <a:rPr lang="en-CA" b="0" i="0" dirty="0" err="1">
                <a:solidFill>
                  <a:srgbClr val="222222"/>
                </a:solidFill>
                <a:effectLst/>
                <a:latin typeface="-apple-system"/>
              </a:rPr>
              <a:t>Crombag</a:t>
            </a:r>
            <a:r>
              <a:rPr lang="en-CA" b="0" i="0" dirty="0">
                <a:solidFill>
                  <a:srgbClr val="222222"/>
                </a:solidFill>
                <a:effectLst/>
                <a:latin typeface="-apple-system"/>
              </a:rPr>
              <a:t>, H., Robinson, T. </a:t>
            </a:r>
            <a:r>
              <a:rPr lang="en-CA" b="0" i="1" dirty="0">
                <a:solidFill>
                  <a:srgbClr val="222222"/>
                </a:solidFill>
                <a:effectLst/>
                <a:latin typeface="-apple-system"/>
              </a:rPr>
              <a:t>et al.</a:t>
            </a:r>
            <a:r>
              <a:rPr lang="en-CA" b="0" i="0" dirty="0">
                <a:solidFill>
                  <a:srgbClr val="222222"/>
                </a:solidFill>
                <a:effectLst/>
                <a:latin typeface="-apple-system"/>
              </a:rPr>
              <a:t> Biological Basis of Sex Differences in the Propensity to Self-administer Cocaine. </a:t>
            </a:r>
            <a:r>
              <a:rPr lang="en-CA" b="0" i="1" dirty="0" err="1">
                <a:solidFill>
                  <a:srgbClr val="222222"/>
                </a:solidFill>
                <a:effectLst/>
                <a:latin typeface="-apple-system"/>
              </a:rPr>
              <a:t>Neuropsychopharmacol</a:t>
            </a:r>
            <a:r>
              <a:rPr lang="en-CA" b="0" i="0" dirty="0">
                <a:solidFill>
                  <a:srgbClr val="222222"/>
                </a:solidFill>
                <a:effectLst/>
                <a:latin typeface="-apple-system"/>
              </a:rPr>
              <a:t> </a:t>
            </a:r>
            <a:r>
              <a:rPr lang="en-CA" b="1" i="0" dirty="0">
                <a:solidFill>
                  <a:srgbClr val="222222"/>
                </a:solidFill>
                <a:effectLst/>
                <a:latin typeface="-apple-system"/>
              </a:rPr>
              <a:t>29</a:t>
            </a:r>
            <a:r>
              <a:rPr lang="en-CA" b="0" i="0" dirty="0">
                <a:solidFill>
                  <a:srgbClr val="222222"/>
                </a:solidFill>
                <a:effectLst/>
                <a:latin typeface="-apple-system"/>
              </a:rPr>
              <a:t>, 81–85 (2004). https://</a:t>
            </a:r>
            <a:r>
              <a:rPr lang="en-CA" b="0" i="0" dirty="0" err="1">
                <a:solidFill>
                  <a:srgbClr val="222222"/>
                </a:solidFill>
                <a:effectLst/>
                <a:latin typeface="-apple-system"/>
              </a:rPr>
              <a:t>doi.org</a:t>
            </a:r>
            <a:r>
              <a:rPr lang="en-CA" b="0" i="0" dirty="0">
                <a:solidFill>
                  <a:srgbClr val="222222"/>
                </a:solidFill>
                <a:effectLst/>
                <a:latin typeface="-apple-system"/>
              </a:rPr>
              <a:t>/10.1038/sj.npp.1300301</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2</a:t>
            </a:fld>
            <a:endParaRPr lang="en-US"/>
          </a:p>
        </p:txBody>
      </p:sp>
    </p:spTree>
    <p:extLst>
      <p:ext uri="{BB962C8B-B14F-4D97-AF65-F5344CB8AC3E}">
        <p14:creationId xmlns:p14="http://schemas.microsoft.com/office/powerpoint/2010/main" val="286917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3</a:t>
            </a:fld>
            <a:endParaRPr lang="en-US"/>
          </a:p>
        </p:txBody>
      </p:sp>
    </p:spTree>
    <p:extLst>
      <p:ext uri="{BB962C8B-B14F-4D97-AF65-F5344CB8AC3E}">
        <p14:creationId xmlns:p14="http://schemas.microsoft.com/office/powerpoint/2010/main" val="2790710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Cocaine Treatment</a:t>
            </a:r>
            <a:r>
              <a:rPr lang="en-CA" dirty="0"/>
              <a:t>: Mice received 20 mg/kg of cocaine for </a:t>
            </a:r>
            <a:r>
              <a:rPr lang="en-CA" b="1" dirty="0"/>
              <a:t>10 consecutive days</a:t>
            </a:r>
            <a:r>
              <a:rPr lang="en-CA" dirty="0"/>
              <a:t>, followed by </a:t>
            </a:r>
            <a:r>
              <a:rPr lang="en-CA" b="1" dirty="0"/>
              <a:t>withdrawal for 28 days</a:t>
            </a:r>
            <a:r>
              <a:rPr lang="en-CA" dirty="0"/>
              <a:t>.</a:t>
            </a:r>
          </a:p>
          <a:p>
            <a:r>
              <a:rPr lang="en-CA" b="1" dirty="0"/>
              <a:t>Tissue Collection</a:t>
            </a:r>
            <a:r>
              <a:rPr lang="en-CA" dirty="0"/>
              <a:t>: Nucleus </a:t>
            </a:r>
            <a:r>
              <a:rPr lang="en-CA" dirty="0" err="1"/>
              <a:t>accumbens</a:t>
            </a:r>
            <a:r>
              <a:rPr lang="en-CA" dirty="0"/>
              <a:t> tissue was dissected on Day 28 post-withdrawal.</a:t>
            </a:r>
          </a:p>
          <a:p>
            <a:r>
              <a:rPr lang="en-CA" b="1" dirty="0"/>
              <a:t>RNA-seq Analysis</a:t>
            </a:r>
            <a:r>
              <a:rPr lang="en-CA" dirty="0"/>
              <a:t>: Gene expression profiling was performed using high-throughput sequencing</a:t>
            </a:r>
          </a:p>
          <a:p>
            <a:r>
              <a:rPr lang="en-CA" b="1" dirty="0"/>
              <a:t>Sex-Specific Expression</a:t>
            </a:r>
            <a:r>
              <a:rPr lang="en-CA" dirty="0"/>
              <a:t>: Females and males displayed </a:t>
            </a:r>
            <a:r>
              <a:rPr lang="en-CA" b="1" dirty="0"/>
              <a:t>distinct gene expression patterns</a:t>
            </a:r>
            <a:r>
              <a:rPr lang="en-CA" dirty="0"/>
              <a:t> both under control (saline) and cocaine-withdrawn conditions.</a:t>
            </a:r>
          </a:p>
          <a:p>
            <a:r>
              <a:rPr lang="en-CA" b="1" dirty="0"/>
              <a:t>Cocaine Effects</a:t>
            </a:r>
            <a:r>
              <a:rPr lang="en-CA" dirty="0"/>
              <a:t>: Cocaine caused </a:t>
            </a:r>
            <a:r>
              <a:rPr lang="en-CA" b="1" dirty="0"/>
              <a:t>lasting gene expression changes</a:t>
            </a:r>
            <a:r>
              <a:rPr lang="en-CA" dirty="0"/>
              <a:t>, especially in genes linked to dopamine signaling, synaptic plasticity, and chromatin modification.</a:t>
            </a:r>
          </a:p>
          <a:p>
            <a:r>
              <a:rPr lang="en-CA" b="1" dirty="0"/>
              <a:t>Dopaminergic Genes</a:t>
            </a:r>
            <a:r>
              <a:rPr lang="en-CA" dirty="0"/>
              <a:t>: Genes like </a:t>
            </a:r>
            <a:r>
              <a:rPr lang="en-CA" b="1" dirty="0" err="1"/>
              <a:t>Cartpt</a:t>
            </a:r>
            <a:r>
              <a:rPr lang="en-CA" dirty="0"/>
              <a:t>, </a:t>
            </a:r>
            <a:r>
              <a:rPr lang="en-CA" b="1" dirty="0"/>
              <a:t>Drd1-Drd5</a:t>
            </a:r>
            <a:r>
              <a:rPr lang="en-CA" dirty="0"/>
              <a:t>, and others were analyzed to explore their role in cocaine's long-term effects.</a:t>
            </a:r>
          </a:p>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4</a:t>
            </a:fld>
            <a:endParaRPr lang="en-US"/>
          </a:p>
        </p:txBody>
      </p:sp>
    </p:spTree>
    <p:extLst>
      <p:ext uri="{BB962C8B-B14F-4D97-AF65-F5344CB8AC3E}">
        <p14:creationId xmlns:p14="http://schemas.microsoft.com/office/powerpoint/2010/main" val="640840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three linear regression models to assess the effect of Sex and Condition on gene expression. All models indicated statistically significant effects of Sex and/or Condition. Specifically, male mice had slightly lower expression than females, and Naive mice had slightly higher expression than those exposed to cocaine. However, the effect sizes were extremely small (R² &lt; 0.001 in all models), suggesting that while statistically detectable, Sex and Condition do not explain meaningful variation in global gene expression levels. These findings may reflect subtle differences that become detectable only due to the large sample size, rather than biologically significant changes across the genome.</a:t>
            </a:r>
          </a:p>
          <a:p>
            <a:endParaRPr lang="en-US" dirty="0"/>
          </a:p>
          <a:p>
            <a:r>
              <a:rPr lang="en-US" dirty="0"/>
              <a:t>&gt;The interaction plot shows no clear evidence of an interaction between Sex and Condition on gene expression. Both males and females exhibited similar expression levels across Cocaine and Naive conditions, suggesting no significant effect of sex or drug withdrawal on this gene.</a:t>
            </a:r>
          </a:p>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8</a:t>
            </a:fld>
            <a:endParaRPr lang="en-US"/>
          </a:p>
        </p:txBody>
      </p:sp>
    </p:spTree>
    <p:extLst>
      <p:ext uri="{BB962C8B-B14F-4D97-AF65-F5344CB8AC3E}">
        <p14:creationId xmlns:p14="http://schemas.microsoft.com/office/powerpoint/2010/main" val="169130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These dopamine genes are differentially expressed in the nucleus </a:t>
            </a:r>
            <a:r>
              <a:rPr lang="en-CA" dirty="0" err="1"/>
              <a:t>accumbens</a:t>
            </a:r>
            <a:r>
              <a:rPr lang="en-CA" dirty="0"/>
              <a:t> and may contribute to neural adaptations following drug exposure or hormonal changes.</a:t>
            </a:r>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9</a:t>
            </a:fld>
            <a:endParaRPr lang="en-US"/>
          </a:p>
        </p:txBody>
      </p:sp>
    </p:spTree>
    <p:extLst>
      <p:ext uri="{BB962C8B-B14F-4D97-AF65-F5344CB8AC3E}">
        <p14:creationId xmlns:p14="http://schemas.microsoft.com/office/powerpoint/2010/main" val="500490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11</a:t>
            </a:fld>
            <a:endParaRPr lang="en-US"/>
          </a:p>
        </p:txBody>
      </p:sp>
    </p:spTree>
    <p:extLst>
      <p:ext uri="{BB962C8B-B14F-4D97-AF65-F5344CB8AC3E}">
        <p14:creationId xmlns:p14="http://schemas.microsoft.com/office/powerpoint/2010/main" val="390574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Drd1 and Drd3 among genes showing altered regulation post-cocaine, especially in females</a:t>
            </a:r>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12</a:t>
            </a:fld>
            <a:endParaRPr lang="en-US"/>
          </a:p>
        </p:txBody>
      </p:sp>
    </p:spTree>
    <p:extLst>
      <p:ext uri="{BB962C8B-B14F-4D97-AF65-F5344CB8AC3E}">
        <p14:creationId xmlns:p14="http://schemas.microsoft.com/office/powerpoint/2010/main" val="800313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76758C-8A38-8F4D-BA3C-C171DA83FC6B}" type="slidenum">
              <a:rPr lang="en-US" smtClean="0"/>
              <a:t>13</a:t>
            </a:fld>
            <a:endParaRPr lang="en-US"/>
          </a:p>
        </p:txBody>
      </p:sp>
    </p:spTree>
    <p:extLst>
      <p:ext uri="{BB962C8B-B14F-4D97-AF65-F5344CB8AC3E}">
        <p14:creationId xmlns:p14="http://schemas.microsoft.com/office/powerpoint/2010/main" val="2108365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hyperlink" Target="https://openclipart.org/detail/149305" TargetMode="Externa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openclipart.org/detail/17558/simple-cartoon-mouse-by-lemmling" TargetMode="Externa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anchor="b">
            <a:normAutofit fontScale="90000"/>
          </a:bodyPr>
          <a:lstStyle/>
          <a:p>
            <a:pPr algn="l"/>
            <a:r>
              <a:rPr lang="en-CA" sz="6000" dirty="0"/>
              <a:t>Uncovering Molecular Adaptations in the Addicted Brain: A Focus on Dopamine Genes and Sex Differences</a:t>
            </a:r>
            <a:endParaRPr lang="en-CA" sz="5700" dirty="0"/>
          </a:p>
        </p:txBody>
      </p:sp>
      <p:sp>
        <p:nvSpPr>
          <p:cNvPr id="3" name="Subtitle 2"/>
          <p:cNvSpPr>
            <a:spLocks noGrp="1"/>
          </p:cNvSpPr>
          <p:nvPr>
            <p:ph type="subTitle" idx="1"/>
          </p:nvPr>
        </p:nvSpPr>
        <p:spPr>
          <a:xfrm>
            <a:off x="628649" y="4983276"/>
            <a:ext cx="7884414" cy="1126680"/>
          </a:xfrm>
        </p:spPr>
        <p:txBody>
          <a:bodyPr>
            <a:normAutofit/>
          </a:bodyPr>
          <a:lstStyle/>
          <a:p>
            <a:pPr algn="l"/>
            <a:r>
              <a:rPr lang="en-CA" dirty="0"/>
              <a:t>By Hoang Yen Nhi Nguyen</a:t>
            </a:r>
          </a:p>
        </p:txBody>
      </p:sp>
      <p:sp>
        <p:nvSpPr>
          <p:cNvPr id="5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118C10E-6407-5B40-B1EF-9BED9661D451}"/>
              </a:ext>
            </a:extLst>
          </p:cNvPr>
          <p:cNvSpPr txBox="1"/>
          <p:nvPr/>
        </p:nvSpPr>
        <p:spPr>
          <a:xfrm>
            <a:off x="628650" y="904838"/>
            <a:ext cx="7886700" cy="1133499"/>
          </a:xfrm>
          <a:prstGeom prst="rect">
            <a:avLst/>
          </a:prstGeom>
        </p:spPr>
        <p:txBody>
          <a:bodyPr vert="horz" lIns="91440" tIns="45720" rIns="91440" bIns="45720" rtlCol="0" anchor="ctr">
            <a:normAutofit/>
          </a:bodyPr>
          <a:lstStyle/>
          <a:p>
            <a:pPr lvl="0" algn="ctr" defTabSz="914400">
              <a:lnSpc>
                <a:spcPct val="90000"/>
              </a:lnSpc>
              <a:spcBef>
                <a:spcPct val="0"/>
              </a:spcBef>
              <a:spcAft>
                <a:spcPts val="600"/>
              </a:spcAft>
            </a:pPr>
            <a:r>
              <a:rPr lang="en-US" sz="3200" b="1" kern="1200" dirty="0">
                <a:solidFill>
                  <a:schemeClr val="tx1"/>
                </a:solidFill>
                <a:latin typeface="+mj-lt"/>
                <a:ea typeface="+mj-ea"/>
                <a:cs typeface="+mj-cs"/>
              </a:rPr>
              <a:t>How Dopamine Normally Works</a:t>
            </a:r>
            <a:endParaRPr lang="en-US" sz="3200" kern="1200" dirty="0">
              <a:solidFill>
                <a:schemeClr val="tx1"/>
              </a:solidFill>
              <a:latin typeface="+mj-lt"/>
              <a:ea typeface="+mj-ea"/>
              <a:cs typeface="+mj-cs"/>
            </a:endParaRPr>
          </a:p>
        </p:txBody>
      </p:sp>
      <p:graphicFrame>
        <p:nvGraphicFramePr>
          <p:cNvPr id="9" name="TextBox 4">
            <a:extLst>
              <a:ext uri="{FF2B5EF4-FFF2-40B4-BE49-F238E27FC236}">
                <a16:creationId xmlns:a16="http://schemas.microsoft.com/office/drawing/2014/main" id="{8B4DBF39-EF1D-8A9A-8AF6-6E35E84DEE03}"/>
              </a:ext>
            </a:extLst>
          </p:cNvPr>
          <p:cNvGraphicFramePr/>
          <p:nvPr>
            <p:extLst>
              <p:ext uri="{D42A27DB-BD31-4B8C-83A1-F6EECF244321}">
                <p14:modId xmlns:p14="http://schemas.microsoft.com/office/powerpoint/2010/main" val="2373344866"/>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Oval 11">
            <a:extLst>
              <a:ext uri="{FF2B5EF4-FFF2-40B4-BE49-F238E27FC236}">
                <a16:creationId xmlns:a16="http://schemas.microsoft.com/office/drawing/2014/main" id="{B7EBF58A-FD44-0040-9A06-C10BC9782857}"/>
              </a:ext>
            </a:extLst>
          </p:cNvPr>
          <p:cNvSpPr/>
          <p:nvPr/>
        </p:nvSpPr>
        <p:spPr>
          <a:xfrm>
            <a:off x="6923314" y="3606927"/>
            <a:ext cx="244929" cy="3345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8535005-C45C-D546-BB32-3319A807E3C2}"/>
              </a:ext>
            </a:extLst>
          </p:cNvPr>
          <p:cNvSpPr/>
          <p:nvPr/>
        </p:nvSpPr>
        <p:spPr>
          <a:xfrm rot="19435450">
            <a:off x="3967843" y="5425722"/>
            <a:ext cx="865414" cy="686069"/>
          </a:xfrm>
          <a:prstGeom prst="r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D4B70F5-1352-BF46-8DFE-0D2A44B1AA8E}"/>
              </a:ext>
            </a:extLst>
          </p:cNvPr>
          <p:cNvSpPr/>
          <p:nvPr/>
        </p:nvSpPr>
        <p:spPr>
          <a:xfrm>
            <a:off x="4073979" y="5292513"/>
            <a:ext cx="498022" cy="46377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59D97F2-9BEF-DF43-8FA1-9BB34B15536A}"/>
              </a:ext>
            </a:extLst>
          </p:cNvPr>
          <p:cNvSpPr txBox="1"/>
          <p:nvPr/>
        </p:nvSpPr>
        <p:spPr>
          <a:xfrm>
            <a:off x="4008665" y="5806183"/>
            <a:ext cx="857249" cy="369332"/>
          </a:xfrm>
          <a:prstGeom prst="rect">
            <a:avLst/>
          </a:prstGeom>
          <a:noFill/>
        </p:spPr>
        <p:txBody>
          <a:bodyPr wrap="square" rtlCol="0">
            <a:spAutoFit/>
          </a:bodyPr>
          <a:lstStyle/>
          <a:p>
            <a:r>
              <a:rPr lang="en-US" dirty="0"/>
              <a:t>DAT</a:t>
            </a:r>
          </a:p>
        </p:txBody>
      </p:sp>
      <p:cxnSp>
        <p:nvCxnSpPr>
          <p:cNvPr id="20" name="Curved Connector 19">
            <a:extLst>
              <a:ext uri="{FF2B5EF4-FFF2-40B4-BE49-F238E27FC236}">
                <a16:creationId xmlns:a16="http://schemas.microsoft.com/office/drawing/2014/main" id="{08BEFB4F-1DC1-8645-B7E7-3089D53AE7B2}"/>
              </a:ext>
            </a:extLst>
          </p:cNvPr>
          <p:cNvCxnSpPr>
            <a:cxnSpLocks/>
          </p:cNvCxnSpPr>
          <p:nvPr/>
        </p:nvCxnSpPr>
        <p:spPr>
          <a:xfrm rot="5400000" flipH="1" flipV="1">
            <a:off x="4086921" y="3957297"/>
            <a:ext cx="1623944" cy="923205"/>
          </a:xfrm>
          <a:prstGeom prst="curvedConnector3">
            <a:avLst/>
          </a:prstGeom>
          <a:ln>
            <a:tailEnd type="triangle"/>
          </a:ln>
        </p:spPr>
        <p:style>
          <a:lnRef idx="3">
            <a:schemeClr val="accent2"/>
          </a:lnRef>
          <a:fillRef idx="0">
            <a:schemeClr val="accent2"/>
          </a:fillRef>
          <a:effectRef idx="2">
            <a:schemeClr val="accent2"/>
          </a:effectRef>
          <a:fontRef idx="minor">
            <a:schemeClr val="tx1"/>
          </a:fontRef>
        </p:style>
      </p:cxnSp>
      <p:pic>
        <p:nvPicPr>
          <p:cNvPr id="24" name="Picture 23" descr="A red brain with black background&#10;&#10;Description automatically generated">
            <a:extLst>
              <a:ext uri="{FF2B5EF4-FFF2-40B4-BE49-F238E27FC236}">
                <a16:creationId xmlns:a16="http://schemas.microsoft.com/office/drawing/2014/main" id="{ED2F10D9-1D37-1541-96E4-12DEF6C3CC5B}"/>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130594" y="2247875"/>
            <a:ext cx="996111" cy="875229"/>
          </a:xfrm>
          <a:prstGeom prst="rect">
            <a:avLst/>
          </a:prstGeom>
        </p:spPr>
      </p:pic>
      <p:sp>
        <p:nvSpPr>
          <p:cNvPr id="25" name="TextBox 24">
            <a:extLst>
              <a:ext uri="{FF2B5EF4-FFF2-40B4-BE49-F238E27FC236}">
                <a16:creationId xmlns:a16="http://schemas.microsoft.com/office/drawing/2014/main" id="{323A765F-A432-2F49-A177-8FD4FDEC0753}"/>
              </a:ext>
            </a:extLst>
          </p:cNvPr>
          <p:cNvSpPr txBox="1"/>
          <p:nvPr/>
        </p:nvSpPr>
        <p:spPr>
          <a:xfrm>
            <a:off x="1282436" y="4418899"/>
            <a:ext cx="1823639"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3200" dirty="0"/>
              <a:t>Cocaine</a:t>
            </a:r>
          </a:p>
        </p:txBody>
      </p:sp>
      <p:cxnSp>
        <p:nvCxnSpPr>
          <p:cNvPr id="27" name="Straight Arrow Connector 26">
            <a:extLst>
              <a:ext uri="{FF2B5EF4-FFF2-40B4-BE49-F238E27FC236}">
                <a16:creationId xmlns:a16="http://schemas.microsoft.com/office/drawing/2014/main" id="{BD840D2E-5ADE-2A43-B7A7-CBAF444AB8B2}"/>
              </a:ext>
            </a:extLst>
          </p:cNvPr>
          <p:cNvCxnSpPr>
            <a:cxnSpLocks/>
          </p:cNvCxnSpPr>
          <p:nvPr/>
        </p:nvCxnSpPr>
        <p:spPr>
          <a:xfrm>
            <a:off x="3331029" y="4711286"/>
            <a:ext cx="110626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quot;No&quot; Symbol 27">
            <a:extLst>
              <a:ext uri="{FF2B5EF4-FFF2-40B4-BE49-F238E27FC236}">
                <a16:creationId xmlns:a16="http://schemas.microsoft.com/office/drawing/2014/main" id="{419CD6FF-E01F-4243-86FA-DB426FD9066C}"/>
              </a:ext>
            </a:extLst>
          </p:cNvPr>
          <p:cNvSpPr/>
          <p:nvPr/>
        </p:nvSpPr>
        <p:spPr>
          <a:xfrm>
            <a:off x="3561128" y="4217761"/>
            <a:ext cx="539987" cy="449529"/>
          </a:xfrm>
          <a:prstGeom prst="noSmoking">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0" name="Oval 29">
            <a:extLst>
              <a:ext uri="{FF2B5EF4-FFF2-40B4-BE49-F238E27FC236}">
                <a16:creationId xmlns:a16="http://schemas.microsoft.com/office/drawing/2014/main" id="{E4B484CA-F472-F04E-8ABF-AA959337AB45}"/>
              </a:ext>
            </a:extLst>
          </p:cNvPr>
          <p:cNvSpPr/>
          <p:nvPr/>
        </p:nvSpPr>
        <p:spPr>
          <a:xfrm>
            <a:off x="7045778" y="4005072"/>
            <a:ext cx="244929" cy="3345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8232D01-4364-4946-B97E-48C1E6D03E70}"/>
              </a:ext>
            </a:extLst>
          </p:cNvPr>
          <p:cNvSpPr/>
          <p:nvPr/>
        </p:nvSpPr>
        <p:spPr>
          <a:xfrm>
            <a:off x="7350578" y="3651578"/>
            <a:ext cx="244929" cy="3345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5437D32-0DFF-4048-AA79-82A4498F6916}"/>
              </a:ext>
            </a:extLst>
          </p:cNvPr>
          <p:cNvSpPr txBox="1"/>
          <p:nvPr/>
        </p:nvSpPr>
        <p:spPr>
          <a:xfrm>
            <a:off x="961089" y="726735"/>
            <a:ext cx="8798813" cy="369332"/>
          </a:xfrm>
          <a:prstGeom prst="rect">
            <a:avLst/>
          </a:prstGeom>
          <a:noFill/>
        </p:spPr>
        <p:txBody>
          <a:bodyPr wrap="square">
            <a:spAutoFit/>
          </a:bodyPr>
          <a:lstStyle/>
          <a:p>
            <a:pPr lvl="0"/>
            <a:r>
              <a:rPr lang="en-US" dirty="0"/>
              <a:t>Addiction is a chronic brain disease involving changes in dopamine signaling.</a:t>
            </a:r>
          </a:p>
        </p:txBody>
      </p:sp>
      <p:sp>
        <p:nvSpPr>
          <p:cNvPr id="34" name="TextBox 33">
            <a:extLst>
              <a:ext uri="{FF2B5EF4-FFF2-40B4-BE49-F238E27FC236}">
                <a16:creationId xmlns:a16="http://schemas.microsoft.com/office/drawing/2014/main" id="{45B7C8C6-D8BB-F34B-B982-93403CBFF778}"/>
              </a:ext>
            </a:extLst>
          </p:cNvPr>
          <p:cNvSpPr txBox="1"/>
          <p:nvPr/>
        </p:nvSpPr>
        <p:spPr>
          <a:xfrm>
            <a:off x="16651" y="6339291"/>
            <a:ext cx="4882242" cy="577081"/>
          </a:xfrm>
          <a:prstGeom prst="rect">
            <a:avLst/>
          </a:prstGeom>
          <a:noFill/>
        </p:spPr>
        <p:txBody>
          <a:bodyPr wrap="square">
            <a:spAutoFit/>
          </a:bodyPr>
          <a:lstStyle/>
          <a:p>
            <a:r>
              <a:rPr lang="en-CA" sz="1050" b="0" i="0" dirty="0">
                <a:solidFill>
                  <a:srgbClr val="222222"/>
                </a:solidFill>
                <a:effectLst/>
                <a:latin typeface="-apple-system"/>
              </a:rPr>
              <a:t>Hu, M., </a:t>
            </a:r>
            <a:r>
              <a:rPr lang="en-CA" sz="1050" b="0" i="0" dirty="0" err="1">
                <a:solidFill>
                  <a:srgbClr val="222222"/>
                </a:solidFill>
                <a:effectLst/>
                <a:latin typeface="-apple-system"/>
              </a:rPr>
              <a:t>Crombag</a:t>
            </a:r>
            <a:r>
              <a:rPr lang="en-CA" sz="1050" b="0" i="0" dirty="0">
                <a:solidFill>
                  <a:srgbClr val="222222"/>
                </a:solidFill>
                <a:effectLst/>
                <a:latin typeface="-apple-system"/>
              </a:rPr>
              <a:t>, H., Robinson, T. </a:t>
            </a:r>
            <a:r>
              <a:rPr lang="en-CA" sz="1050" b="0" i="1" dirty="0">
                <a:solidFill>
                  <a:srgbClr val="222222"/>
                </a:solidFill>
                <a:effectLst/>
                <a:latin typeface="-apple-system"/>
              </a:rPr>
              <a:t>et al.</a:t>
            </a:r>
            <a:r>
              <a:rPr lang="en-CA" sz="1050" b="0" i="0" dirty="0">
                <a:solidFill>
                  <a:srgbClr val="222222"/>
                </a:solidFill>
                <a:effectLst/>
                <a:latin typeface="-apple-system"/>
              </a:rPr>
              <a:t> Biological Basis of Sex Differences in the Propensity to Self-administer Cocaine. </a:t>
            </a:r>
            <a:r>
              <a:rPr lang="en-CA" sz="1050" b="0" i="1" dirty="0" err="1">
                <a:solidFill>
                  <a:srgbClr val="222222"/>
                </a:solidFill>
                <a:effectLst/>
                <a:latin typeface="-apple-system"/>
              </a:rPr>
              <a:t>Neuropsychopharmacol</a:t>
            </a:r>
            <a:r>
              <a:rPr lang="en-CA" sz="1050" b="0" i="0" dirty="0">
                <a:solidFill>
                  <a:srgbClr val="222222"/>
                </a:solidFill>
                <a:effectLst/>
                <a:latin typeface="-apple-system"/>
              </a:rPr>
              <a:t> </a:t>
            </a:r>
            <a:r>
              <a:rPr lang="en-CA" sz="1050" b="1" i="0" dirty="0">
                <a:solidFill>
                  <a:srgbClr val="222222"/>
                </a:solidFill>
                <a:effectLst/>
                <a:latin typeface="-apple-system"/>
              </a:rPr>
              <a:t>29</a:t>
            </a:r>
            <a:r>
              <a:rPr lang="en-CA" sz="1050" b="0" i="0" dirty="0">
                <a:solidFill>
                  <a:srgbClr val="222222"/>
                </a:solidFill>
                <a:effectLst/>
                <a:latin typeface="-apple-system"/>
              </a:rPr>
              <a:t>, 81–85 (2004). https://</a:t>
            </a:r>
            <a:r>
              <a:rPr lang="en-CA" sz="1050" b="0" i="0" dirty="0" err="1">
                <a:solidFill>
                  <a:srgbClr val="222222"/>
                </a:solidFill>
                <a:effectLst/>
                <a:latin typeface="-apple-system"/>
              </a:rPr>
              <a:t>doi.org</a:t>
            </a:r>
            <a:r>
              <a:rPr lang="en-CA" sz="1050" b="0" i="0" dirty="0">
                <a:solidFill>
                  <a:srgbClr val="222222"/>
                </a:solidFill>
                <a:effectLst/>
                <a:latin typeface="-apple-system"/>
              </a:rPr>
              <a:t>/10.1038/sj.npp.1300301</a:t>
            </a:r>
            <a:endParaRPr lang="en-US" sz="1050" dirty="0"/>
          </a:p>
        </p:txBody>
      </p:sp>
    </p:spTree>
    <p:extLst>
      <p:ext uri="{BB962C8B-B14F-4D97-AF65-F5344CB8AC3E}">
        <p14:creationId xmlns:p14="http://schemas.microsoft.com/office/powerpoint/2010/main" val="4225498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BA3889-BC01-EB4C-A5C7-2162A250AA70}"/>
              </a:ext>
            </a:extLst>
          </p:cNvPr>
          <p:cNvSpPr>
            <a:spLocks noGrp="1"/>
          </p:cNvSpPr>
          <p:nvPr>
            <p:ph type="title"/>
          </p:nvPr>
        </p:nvSpPr>
        <p:spPr>
          <a:xfrm>
            <a:off x="293914" y="-1951688"/>
            <a:ext cx="6300107" cy="5583148"/>
          </a:xfrm>
        </p:spPr>
        <p:txBody>
          <a:bodyPr vert="horz" lIns="91440" tIns="45720" rIns="91440" bIns="45720" rtlCol="0" anchor="ctr">
            <a:normAutofit/>
          </a:bodyPr>
          <a:lstStyle/>
          <a:p>
            <a:pPr algn="l" defTabSz="914400">
              <a:lnSpc>
                <a:spcPct val="90000"/>
              </a:lnSpc>
            </a:pPr>
            <a:r>
              <a:rPr lang="en-US" sz="3600" b="1" kern="1200" dirty="0">
                <a:solidFill>
                  <a:schemeClr val="tx1"/>
                </a:solidFill>
                <a:latin typeface="+mj-lt"/>
                <a:ea typeface="+mj-ea"/>
                <a:cs typeface="+mj-cs"/>
              </a:rPr>
              <a:t>What Happens </a:t>
            </a:r>
            <a:r>
              <a:rPr lang="en-US" sz="3200" b="1" kern="1200" dirty="0">
                <a:solidFill>
                  <a:schemeClr val="tx1"/>
                </a:solidFill>
                <a:latin typeface="+mj-lt"/>
                <a:ea typeface="+mj-ea"/>
                <a:cs typeface="+mj-cs"/>
              </a:rPr>
              <a:t>with</a:t>
            </a:r>
            <a:r>
              <a:rPr lang="en-US" sz="6600" b="1" kern="1200" dirty="0">
                <a:solidFill>
                  <a:schemeClr val="tx1"/>
                </a:solidFill>
                <a:latin typeface="+mj-lt"/>
                <a:ea typeface="+mj-ea"/>
                <a:cs typeface="+mj-cs"/>
              </a:rPr>
              <a:t> </a:t>
            </a:r>
            <a:r>
              <a:rPr lang="en-US" sz="3600" b="1" kern="1200" dirty="0">
                <a:solidFill>
                  <a:schemeClr val="tx1"/>
                </a:solidFill>
                <a:latin typeface="+mj-lt"/>
                <a:ea typeface="+mj-ea"/>
                <a:cs typeface="+mj-cs"/>
              </a:rPr>
              <a:t>Repeated Use</a:t>
            </a:r>
            <a:br>
              <a:rPr lang="en-US" sz="3600" b="1" kern="1200" dirty="0">
                <a:solidFill>
                  <a:schemeClr val="tx1"/>
                </a:solidFill>
                <a:latin typeface="+mj-lt"/>
                <a:ea typeface="+mj-ea"/>
                <a:cs typeface="+mj-cs"/>
              </a:rPr>
            </a:br>
            <a:endParaRPr lang="en-US" sz="36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4">
            <a:extLst>
              <a:ext uri="{FF2B5EF4-FFF2-40B4-BE49-F238E27FC236}">
                <a16:creationId xmlns:a16="http://schemas.microsoft.com/office/drawing/2014/main" id="{81E30981-75A0-C221-16AD-91D00E06A4C8}"/>
              </a:ext>
            </a:extLst>
          </p:cNvPr>
          <p:cNvGraphicFramePr/>
          <p:nvPr>
            <p:extLst>
              <p:ext uri="{D42A27DB-BD31-4B8C-83A1-F6EECF244321}">
                <p14:modId xmlns:p14="http://schemas.microsoft.com/office/powerpoint/2010/main" val="300407001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8858460F-A807-2F45-AD28-889F7F591BCD}"/>
              </a:ext>
            </a:extLst>
          </p:cNvPr>
          <p:cNvSpPr txBox="1"/>
          <p:nvPr/>
        </p:nvSpPr>
        <p:spPr>
          <a:xfrm>
            <a:off x="257222" y="1342349"/>
            <a:ext cx="2728111" cy="1200329"/>
          </a:xfrm>
          <a:prstGeom prst="rect">
            <a:avLst/>
          </a:prstGeom>
          <a:noFill/>
        </p:spPr>
        <p:txBody>
          <a:bodyPr wrap="square">
            <a:spAutoFit/>
          </a:bodyPr>
          <a:lstStyle/>
          <a:p>
            <a:pPr lvl="0"/>
            <a:r>
              <a:rPr lang="en-CA" dirty="0"/>
              <a:t>The extra dopamine </a:t>
            </a:r>
            <a:r>
              <a:rPr lang="en-CA" b="1" dirty="0"/>
              <a:t>keeps stimulating dopamine receptors</a:t>
            </a:r>
            <a:r>
              <a:rPr lang="en-CA" dirty="0"/>
              <a:t> on the receiving neuron </a:t>
            </a:r>
            <a:endParaRPr lang="en-US" dirty="0"/>
          </a:p>
        </p:txBody>
      </p:sp>
      <p:sp>
        <p:nvSpPr>
          <p:cNvPr id="12" name="TextBox 11">
            <a:extLst>
              <a:ext uri="{FF2B5EF4-FFF2-40B4-BE49-F238E27FC236}">
                <a16:creationId xmlns:a16="http://schemas.microsoft.com/office/drawing/2014/main" id="{58CB9EBB-679C-874B-BEC8-6B3034486951}"/>
              </a:ext>
            </a:extLst>
          </p:cNvPr>
          <p:cNvSpPr txBox="1"/>
          <p:nvPr/>
        </p:nvSpPr>
        <p:spPr>
          <a:xfrm>
            <a:off x="293914" y="2840735"/>
            <a:ext cx="4572000" cy="523220"/>
          </a:xfrm>
          <a:prstGeom prst="rect">
            <a:avLst/>
          </a:prstGeom>
          <a:noFill/>
        </p:spPr>
        <p:txBody>
          <a:bodyPr wrap="square">
            <a:spAutoFit/>
          </a:bodyPr>
          <a:lstStyle/>
          <a:p>
            <a:pPr lvl="0"/>
            <a:r>
              <a:rPr lang="en-CA" sz="2800" b="1" dirty="0">
                <a:solidFill>
                  <a:srgbClr val="FF0000"/>
                </a:solidFill>
              </a:rPr>
              <a:t>— the “high.”</a:t>
            </a:r>
            <a:endParaRPr lang="en-US" sz="2800" b="1" dirty="0">
              <a:solidFill>
                <a:srgbClr val="FF0000"/>
              </a:solidFill>
            </a:endParaRPr>
          </a:p>
        </p:txBody>
      </p:sp>
      <p:grpSp>
        <p:nvGrpSpPr>
          <p:cNvPr id="14" name="Group 13">
            <a:extLst>
              <a:ext uri="{FF2B5EF4-FFF2-40B4-BE49-F238E27FC236}">
                <a16:creationId xmlns:a16="http://schemas.microsoft.com/office/drawing/2014/main" id="{6AA8923E-6677-4441-975B-DB32DB718EC5}"/>
              </a:ext>
            </a:extLst>
          </p:cNvPr>
          <p:cNvGrpSpPr/>
          <p:nvPr/>
        </p:nvGrpSpPr>
        <p:grpSpPr>
          <a:xfrm>
            <a:off x="135671" y="4234954"/>
            <a:ext cx="3235472" cy="1657600"/>
            <a:chOff x="4243450" y="903270"/>
            <a:chExt cx="930061" cy="1657600"/>
          </a:xfrm>
        </p:grpSpPr>
        <p:sp>
          <p:nvSpPr>
            <p:cNvPr id="15" name="Rectangle 14">
              <a:extLst>
                <a:ext uri="{FF2B5EF4-FFF2-40B4-BE49-F238E27FC236}">
                  <a16:creationId xmlns:a16="http://schemas.microsoft.com/office/drawing/2014/main" id="{916036F4-7D1A-2D4D-9EB8-3F915C6CDF38}"/>
                </a:ext>
              </a:extLst>
            </p:cNvPr>
            <p:cNvSpPr/>
            <p:nvPr/>
          </p:nvSpPr>
          <p:spPr>
            <a:xfrm>
              <a:off x="4243450" y="903270"/>
              <a:ext cx="930061" cy="16576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TextBox 15">
              <a:extLst>
                <a:ext uri="{FF2B5EF4-FFF2-40B4-BE49-F238E27FC236}">
                  <a16:creationId xmlns:a16="http://schemas.microsoft.com/office/drawing/2014/main" id="{38B75B92-120F-A441-A0EC-9BD8DF98C63C}"/>
                </a:ext>
              </a:extLst>
            </p:cNvPr>
            <p:cNvSpPr txBox="1"/>
            <p:nvPr/>
          </p:nvSpPr>
          <p:spPr>
            <a:xfrm>
              <a:off x="4243450" y="903270"/>
              <a:ext cx="930061" cy="16576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429" tIns="175429" rIns="175429" bIns="175429" numCol="1" spcCol="1270" anchor="ctr" anchorCtr="0">
              <a:noAutofit/>
            </a:bodyPr>
            <a:lstStyle/>
            <a:p>
              <a:pPr marL="0" lvl="0" indent="0" algn="l" defTabSz="488950">
                <a:lnSpc>
                  <a:spcPct val="100000"/>
                </a:lnSpc>
                <a:spcBef>
                  <a:spcPct val="0"/>
                </a:spcBef>
                <a:spcAft>
                  <a:spcPct val="35000"/>
                </a:spcAft>
                <a:buNone/>
              </a:pPr>
              <a:r>
                <a:rPr lang="en-CA" kern="1200" dirty="0"/>
                <a:t>Dopamine receptors may become </a:t>
              </a:r>
              <a:r>
                <a:rPr lang="en-CA" b="1" kern="1200" dirty="0"/>
                <a:t>less sensitive</a:t>
              </a:r>
              <a:r>
                <a:rPr lang="en-CA" kern="1200" dirty="0"/>
                <a:t> (called </a:t>
              </a:r>
              <a:r>
                <a:rPr lang="en-CA" b="1" kern="1200" dirty="0">
                  <a:highlight>
                    <a:srgbClr val="FFFF00"/>
                  </a:highlight>
                </a:rPr>
                <a:t>desensitization</a:t>
              </a:r>
              <a:r>
                <a:rPr lang="en-CA" kern="1200" dirty="0"/>
                <a:t>)</a:t>
              </a:r>
              <a:endParaRPr lang="en-US" kern="1200" dirty="0"/>
            </a:p>
            <a:p>
              <a:pPr marL="0" lvl="0" indent="0" algn="l" defTabSz="488950">
                <a:lnSpc>
                  <a:spcPct val="100000"/>
                </a:lnSpc>
                <a:spcBef>
                  <a:spcPct val="0"/>
                </a:spcBef>
                <a:spcAft>
                  <a:spcPct val="35000"/>
                </a:spcAft>
                <a:buNone/>
              </a:pPr>
              <a:r>
                <a:rPr lang="en-CA" kern="1200" dirty="0"/>
                <a:t>The brain may </a:t>
              </a:r>
              <a:r>
                <a:rPr lang="en-CA" b="1" kern="1200" dirty="0"/>
                <a:t>reduce the number of receptors</a:t>
              </a:r>
              <a:r>
                <a:rPr lang="en-CA" kern="1200" dirty="0"/>
                <a:t> (called </a:t>
              </a:r>
              <a:r>
                <a:rPr lang="en-CA" b="1" kern="1200" dirty="0">
                  <a:highlight>
                    <a:srgbClr val="FFFF00"/>
                  </a:highlight>
                </a:rPr>
                <a:t>downregulation</a:t>
              </a:r>
              <a:r>
                <a:rPr lang="en-CA" kern="1200" dirty="0"/>
                <a:t>)</a:t>
              </a:r>
              <a:endParaRPr lang="en-US" kern="1200" dirty="0"/>
            </a:p>
            <a:p>
              <a:pPr marL="0" lvl="0" indent="0" algn="l" defTabSz="488950">
                <a:lnSpc>
                  <a:spcPct val="100000"/>
                </a:lnSpc>
                <a:spcBef>
                  <a:spcPct val="0"/>
                </a:spcBef>
                <a:spcAft>
                  <a:spcPct val="35000"/>
                </a:spcAft>
                <a:buNone/>
              </a:pPr>
              <a:r>
                <a:rPr lang="en-CA" kern="1200" dirty="0"/>
                <a:t>Natural dopamine release becomes </a:t>
              </a:r>
              <a:r>
                <a:rPr lang="en-CA" b="1" kern="1200" dirty="0">
                  <a:highlight>
                    <a:srgbClr val="FFFF00"/>
                  </a:highlight>
                </a:rPr>
                <a:t>weaker</a:t>
              </a:r>
              <a:r>
                <a:rPr lang="en-CA" kern="1200" dirty="0">
                  <a:highlight>
                    <a:srgbClr val="FFFF00"/>
                  </a:highlight>
                </a:rPr>
                <a:t> — making normal pleasures feel less rewarding</a:t>
              </a:r>
              <a:endParaRPr lang="en-US" kern="1200" dirty="0">
                <a:highlight>
                  <a:srgbClr val="FFFF00"/>
                </a:highlight>
              </a:endParaRPr>
            </a:p>
          </p:txBody>
        </p:sp>
      </p:grpSp>
      <p:sp>
        <p:nvSpPr>
          <p:cNvPr id="18" name="TextBox 17">
            <a:extLst>
              <a:ext uri="{FF2B5EF4-FFF2-40B4-BE49-F238E27FC236}">
                <a16:creationId xmlns:a16="http://schemas.microsoft.com/office/drawing/2014/main" id="{53F7B93C-45F4-C745-84C7-D29514E59619}"/>
              </a:ext>
            </a:extLst>
          </p:cNvPr>
          <p:cNvSpPr txBox="1"/>
          <p:nvPr/>
        </p:nvSpPr>
        <p:spPr>
          <a:xfrm>
            <a:off x="3242555" y="6041793"/>
            <a:ext cx="5901445" cy="738664"/>
          </a:xfrm>
          <a:prstGeom prst="rect">
            <a:avLst/>
          </a:prstGeom>
          <a:noFill/>
        </p:spPr>
        <p:txBody>
          <a:bodyPr wrap="square">
            <a:spAutoFit/>
          </a:bodyPr>
          <a:lstStyle/>
          <a:p>
            <a:r>
              <a:rPr lang="en-CA" sz="1050" b="0" i="0" dirty="0">
                <a:solidFill>
                  <a:srgbClr val="1B1B1B"/>
                </a:solidFill>
                <a:effectLst/>
                <a:latin typeface="Roboto Mono Web"/>
              </a:rPr>
              <a:t>Zhang L, Lou D, Jiao H, Zhang D, Wang X, Xia Y, Zhang J, Xu M. Cocaine-induced intracellular signaling and gene expression are oppositely regulated by the dopamine D1 and D3 receptors. J </a:t>
            </a:r>
            <a:r>
              <a:rPr lang="en-CA" sz="1050" b="0" i="0" dirty="0" err="1">
                <a:solidFill>
                  <a:srgbClr val="1B1B1B"/>
                </a:solidFill>
                <a:effectLst/>
                <a:latin typeface="Roboto Mono Web"/>
              </a:rPr>
              <a:t>Neurosci</a:t>
            </a:r>
            <a:r>
              <a:rPr lang="en-CA" sz="1050" b="0" i="0" dirty="0">
                <a:solidFill>
                  <a:srgbClr val="1B1B1B"/>
                </a:solidFill>
                <a:effectLst/>
                <a:latin typeface="Roboto Mono Web"/>
              </a:rPr>
              <a:t>. 2004 Mar 31;24(13):3344-54. </a:t>
            </a:r>
            <a:r>
              <a:rPr lang="en-CA" sz="1050" b="0" i="0" dirty="0" err="1">
                <a:solidFill>
                  <a:srgbClr val="1B1B1B"/>
                </a:solidFill>
                <a:effectLst/>
                <a:latin typeface="Roboto Mono Web"/>
              </a:rPr>
              <a:t>doi</a:t>
            </a:r>
            <a:r>
              <a:rPr lang="en-CA" sz="1050" b="0" i="0" dirty="0">
                <a:solidFill>
                  <a:srgbClr val="1B1B1B"/>
                </a:solidFill>
                <a:effectLst/>
                <a:latin typeface="Roboto Mono Web"/>
              </a:rPr>
              <a:t>: 10.1523/JNEUROSCI.0060-04.2004. PMID: 15056714; PMCID: PMC6730011</a:t>
            </a:r>
            <a:endParaRPr lang="en-US" sz="1050" dirty="0"/>
          </a:p>
        </p:txBody>
      </p:sp>
    </p:spTree>
    <p:extLst>
      <p:ext uri="{BB962C8B-B14F-4D97-AF65-F5344CB8AC3E}">
        <p14:creationId xmlns:p14="http://schemas.microsoft.com/office/powerpoint/2010/main" val="258271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3EA87-B1D8-4943-97B5-D0C1629674EE}"/>
              </a:ext>
            </a:extLst>
          </p:cNvPr>
          <p:cNvSpPr>
            <a:spLocks noGrp="1"/>
          </p:cNvSpPr>
          <p:nvPr>
            <p:ph type="title"/>
          </p:nvPr>
        </p:nvSpPr>
        <p:spPr>
          <a:xfrm>
            <a:off x="457200" y="-84607"/>
            <a:ext cx="8229600" cy="1143000"/>
          </a:xfrm>
        </p:spPr>
        <p:txBody>
          <a:bodyPr/>
          <a:lstStyle/>
          <a:p>
            <a:r>
              <a:rPr lang="en-US" dirty="0"/>
              <a:t>Research Study and Data</a:t>
            </a:r>
          </a:p>
        </p:txBody>
      </p:sp>
      <p:sp>
        <p:nvSpPr>
          <p:cNvPr id="5" name="TextBox 4">
            <a:extLst>
              <a:ext uri="{FF2B5EF4-FFF2-40B4-BE49-F238E27FC236}">
                <a16:creationId xmlns:a16="http://schemas.microsoft.com/office/drawing/2014/main" id="{29A7138A-54D5-1045-8C02-B741F5C3C93B}"/>
              </a:ext>
            </a:extLst>
          </p:cNvPr>
          <p:cNvSpPr txBox="1"/>
          <p:nvPr/>
        </p:nvSpPr>
        <p:spPr>
          <a:xfrm>
            <a:off x="387805" y="678174"/>
            <a:ext cx="8948057" cy="523220"/>
          </a:xfrm>
          <a:prstGeom prst="rect">
            <a:avLst/>
          </a:prstGeom>
          <a:noFill/>
        </p:spPr>
        <p:txBody>
          <a:bodyPr wrap="square">
            <a:spAutoFit/>
          </a:bodyPr>
          <a:lstStyle/>
          <a:p>
            <a:r>
              <a:rPr lang="en-CA" sz="1400" i="1" dirty="0"/>
              <a:t>Sex-Specific Gene Expression in the Mouse Nucleus </a:t>
            </a:r>
            <a:r>
              <a:rPr lang="en-CA" sz="1400" i="1" dirty="0" err="1"/>
              <a:t>Accumbens</a:t>
            </a:r>
            <a:r>
              <a:rPr lang="en-CA" sz="1400" i="1" dirty="0"/>
              <a:t> Before and After Cocaine Exposure</a:t>
            </a:r>
            <a:br>
              <a:rPr lang="en-CA" sz="1400" dirty="0"/>
            </a:br>
            <a:r>
              <a:rPr lang="en-CA" sz="1400" dirty="0"/>
              <a:t>(</a:t>
            </a:r>
            <a:r>
              <a:rPr lang="en-CA" sz="1400" dirty="0" err="1"/>
              <a:t>LaRese</a:t>
            </a:r>
            <a:r>
              <a:rPr lang="en-CA" sz="1400" dirty="0"/>
              <a:t> et al,. 2019</a:t>
            </a:r>
            <a:endParaRPr lang="en-US" sz="1400" dirty="0"/>
          </a:p>
        </p:txBody>
      </p:sp>
      <p:sp>
        <p:nvSpPr>
          <p:cNvPr id="7" name="TextBox 6">
            <a:extLst>
              <a:ext uri="{FF2B5EF4-FFF2-40B4-BE49-F238E27FC236}">
                <a16:creationId xmlns:a16="http://schemas.microsoft.com/office/drawing/2014/main" id="{15E2A8E4-09F6-C04C-AD89-B89BEFCF6307}"/>
              </a:ext>
            </a:extLst>
          </p:cNvPr>
          <p:cNvSpPr txBox="1"/>
          <p:nvPr/>
        </p:nvSpPr>
        <p:spPr>
          <a:xfrm>
            <a:off x="289832" y="1261708"/>
            <a:ext cx="7369643" cy="923330"/>
          </a:xfrm>
          <a:prstGeom prst="rect">
            <a:avLst/>
          </a:prstGeom>
          <a:noFill/>
        </p:spPr>
        <p:txBody>
          <a:bodyPr wrap="square">
            <a:spAutoFit/>
          </a:bodyPr>
          <a:lstStyle/>
          <a:p>
            <a:r>
              <a:rPr lang="en-CA" b="1" dirty="0"/>
              <a:t>Subjects</a:t>
            </a:r>
            <a:r>
              <a:rPr lang="en-CA" dirty="0"/>
              <a:t>: Male and female C57BL/6J mice.</a:t>
            </a:r>
          </a:p>
          <a:p>
            <a:r>
              <a:rPr lang="en-CA" b="1" dirty="0"/>
              <a:t>Design</a:t>
            </a:r>
            <a:r>
              <a:rPr lang="en-CA" dirty="0"/>
              <a:t>:</a:t>
            </a:r>
          </a:p>
          <a:p>
            <a:pPr>
              <a:buFont typeface="Arial" panose="020B0604020202020204" pitchFamily="34" charset="0"/>
              <a:buChar char="•"/>
            </a:pPr>
            <a:r>
              <a:rPr lang="en-CA" dirty="0"/>
              <a:t>Mice were divided into 4 main groups:</a:t>
            </a:r>
          </a:p>
        </p:txBody>
      </p:sp>
      <p:grpSp>
        <p:nvGrpSpPr>
          <p:cNvPr id="15" name="Group 14">
            <a:extLst>
              <a:ext uri="{FF2B5EF4-FFF2-40B4-BE49-F238E27FC236}">
                <a16:creationId xmlns:a16="http://schemas.microsoft.com/office/drawing/2014/main" id="{46B62F68-A15F-3E4E-8D43-FB6A0EE06489}"/>
              </a:ext>
            </a:extLst>
          </p:cNvPr>
          <p:cNvGrpSpPr/>
          <p:nvPr/>
        </p:nvGrpSpPr>
        <p:grpSpPr>
          <a:xfrm>
            <a:off x="387805" y="2697500"/>
            <a:ext cx="1747156" cy="1915250"/>
            <a:chOff x="457200" y="4436754"/>
            <a:chExt cx="1747156" cy="1915250"/>
          </a:xfrm>
        </p:grpSpPr>
        <p:pic>
          <p:nvPicPr>
            <p:cNvPr id="9" name="Picture 8" descr="A cartoon mouse with long tail&#10;&#10;Description automatically generated">
              <a:extLst>
                <a:ext uri="{FF2B5EF4-FFF2-40B4-BE49-F238E27FC236}">
                  <a16:creationId xmlns:a16="http://schemas.microsoft.com/office/drawing/2014/main" id="{D600D241-1C60-6444-8947-15E5C8A446BC}"/>
                </a:ext>
              </a:extLst>
            </p:cNvPr>
            <p:cNvPicPr>
              <a:picLocks noChangeAspect="1"/>
            </p:cNvPicPr>
            <p:nvPr/>
          </p:nvPicPr>
          <p:blipFill>
            <a:blip r:embed="rId3">
              <a:duotone>
                <a:prstClr val="black"/>
                <a:schemeClr val="accent2">
                  <a:tint val="45000"/>
                  <a:satMod val="400000"/>
                </a:schemeClr>
              </a:duotone>
              <a:extLst>
                <a:ext uri="{837473B0-CC2E-450A-ABE3-18F120FF3D39}">
                  <a1611:picAttrSrcUrl xmlns:a1611="http://schemas.microsoft.com/office/drawing/2016/11/main" r:id="rId4"/>
                </a:ext>
              </a:extLst>
            </a:blip>
            <a:stretch>
              <a:fillRect/>
            </a:stretch>
          </p:blipFill>
          <p:spPr>
            <a:xfrm>
              <a:off x="653142" y="4436754"/>
              <a:ext cx="1023258" cy="1007754"/>
            </a:xfrm>
            <a:prstGeom prst="rect">
              <a:avLst/>
            </a:prstGeom>
          </p:spPr>
        </p:pic>
        <p:sp>
          <p:nvSpPr>
            <p:cNvPr id="14" name="TextBox 13">
              <a:extLst>
                <a:ext uri="{FF2B5EF4-FFF2-40B4-BE49-F238E27FC236}">
                  <a16:creationId xmlns:a16="http://schemas.microsoft.com/office/drawing/2014/main" id="{C69C72AC-2ABD-CD4E-8868-330585BFAE75}"/>
                </a:ext>
              </a:extLst>
            </p:cNvPr>
            <p:cNvSpPr txBox="1"/>
            <p:nvPr/>
          </p:nvSpPr>
          <p:spPr>
            <a:xfrm>
              <a:off x="457200" y="5705673"/>
              <a:ext cx="1747156" cy="646331"/>
            </a:xfrm>
            <a:prstGeom prst="rect">
              <a:avLst/>
            </a:prstGeom>
            <a:noFill/>
          </p:spPr>
          <p:txBody>
            <a:bodyPr wrap="square">
              <a:spAutoFit/>
            </a:bodyPr>
            <a:lstStyle/>
            <a:p>
              <a:r>
                <a:rPr lang="en-CA" dirty="0"/>
                <a:t>Saline-treated males</a:t>
              </a:r>
              <a:endParaRPr lang="en-US" dirty="0"/>
            </a:p>
          </p:txBody>
        </p:sp>
      </p:grpSp>
      <p:grpSp>
        <p:nvGrpSpPr>
          <p:cNvPr id="18" name="Group 17">
            <a:extLst>
              <a:ext uri="{FF2B5EF4-FFF2-40B4-BE49-F238E27FC236}">
                <a16:creationId xmlns:a16="http://schemas.microsoft.com/office/drawing/2014/main" id="{17D109BF-01AE-CB49-B562-2EE7212E8CFC}"/>
              </a:ext>
            </a:extLst>
          </p:cNvPr>
          <p:cNvGrpSpPr/>
          <p:nvPr/>
        </p:nvGrpSpPr>
        <p:grpSpPr>
          <a:xfrm>
            <a:off x="1400174" y="2735445"/>
            <a:ext cx="2220687" cy="1905923"/>
            <a:chOff x="1453242" y="4422926"/>
            <a:chExt cx="2220687" cy="1905923"/>
          </a:xfrm>
        </p:grpSpPr>
        <p:pic>
          <p:nvPicPr>
            <p:cNvPr id="10" name="Picture 9" descr="A cartoon mouse with long tail&#10;&#10;Description automatically generated">
              <a:extLst>
                <a:ext uri="{FF2B5EF4-FFF2-40B4-BE49-F238E27FC236}">
                  <a16:creationId xmlns:a16="http://schemas.microsoft.com/office/drawing/2014/main" id="{BA4C11D3-5E07-184B-9F1A-96957CB955A1}"/>
                </a:ext>
              </a:extLst>
            </p:cNvPr>
            <p:cNvPicPr>
              <a:picLocks noChangeAspect="1"/>
            </p:cNvPicPr>
            <p:nvPr/>
          </p:nvPicPr>
          <p:blipFill>
            <a:blip r:embed="rId3">
              <a:duotone>
                <a:schemeClr val="accent2">
                  <a:shade val="45000"/>
                  <a:satMod val="135000"/>
                </a:schemeClr>
                <a:prstClr val="white"/>
              </a:duotone>
              <a:extLst>
                <a:ext uri="{837473B0-CC2E-450A-ABE3-18F120FF3D39}">
                  <a1611:picAttrSrcUrl xmlns:a1611="http://schemas.microsoft.com/office/drawing/2016/11/main" r:id="rId4"/>
                </a:ext>
              </a:extLst>
            </a:blip>
            <a:stretch>
              <a:fillRect/>
            </a:stretch>
          </p:blipFill>
          <p:spPr>
            <a:xfrm>
              <a:off x="1676400" y="4422926"/>
              <a:ext cx="1023258" cy="1007754"/>
            </a:xfrm>
            <a:prstGeom prst="rect">
              <a:avLst/>
            </a:prstGeom>
          </p:spPr>
        </p:pic>
        <p:sp>
          <p:nvSpPr>
            <p:cNvPr id="17" name="TextBox 16">
              <a:extLst>
                <a:ext uri="{FF2B5EF4-FFF2-40B4-BE49-F238E27FC236}">
                  <a16:creationId xmlns:a16="http://schemas.microsoft.com/office/drawing/2014/main" id="{685D1A08-0232-0A42-90D2-D172118EC1FC}"/>
                </a:ext>
              </a:extLst>
            </p:cNvPr>
            <p:cNvSpPr txBox="1"/>
            <p:nvPr/>
          </p:nvSpPr>
          <p:spPr>
            <a:xfrm>
              <a:off x="1453242" y="5682518"/>
              <a:ext cx="2220687" cy="646331"/>
            </a:xfrm>
            <a:prstGeom prst="rect">
              <a:avLst/>
            </a:prstGeom>
            <a:noFill/>
          </p:spPr>
          <p:txBody>
            <a:bodyPr wrap="square">
              <a:spAutoFit/>
            </a:bodyPr>
            <a:lstStyle/>
            <a:p>
              <a:pPr lvl="1"/>
              <a:r>
                <a:rPr lang="en-CA" dirty="0"/>
                <a:t>Saline-treated females</a:t>
              </a:r>
            </a:p>
          </p:txBody>
        </p:sp>
      </p:grpSp>
      <p:grpSp>
        <p:nvGrpSpPr>
          <p:cNvPr id="19" name="Group 18">
            <a:extLst>
              <a:ext uri="{FF2B5EF4-FFF2-40B4-BE49-F238E27FC236}">
                <a16:creationId xmlns:a16="http://schemas.microsoft.com/office/drawing/2014/main" id="{DE235B76-2D75-4B4F-AF08-14D15086251F}"/>
              </a:ext>
            </a:extLst>
          </p:cNvPr>
          <p:cNvGrpSpPr/>
          <p:nvPr/>
        </p:nvGrpSpPr>
        <p:grpSpPr>
          <a:xfrm>
            <a:off x="4219589" y="2747629"/>
            <a:ext cx="1747156" cy="1915250"/>
            <a:chOff x="457200" y="4436754"/>
            <a:chExt cx="1747156" cy="1915250"/>
          </a:xfrm>
        </p:grpSpPr>
        <p:pic>
          <p:nvPicPr>
            <p:cNvPr id="20" name="Picture 19" descr="A cartoon mouse with long tail&#10;&#10;Description automatically generated">
              <a:extLst>
                <a:ext uri="{FF2B5EF4-FFF2-40B4-BE49-F238E27FC236}">
                  <a16:creationId xmlns:a16="http://schemas.microsoft.com/office/drawing/2014/main" id="{A52CB8C8-9668-B44E-BD81-14A1ECDB89C5}"/>
                </a:ext>
              </a:extLst>
            </p:cNvPr>
            <p:cNvPicPr>
              <a:picLocks noChangeAspect="1"/>
            </p:cNvPicPr>
            <p:nvPr/>
          </p:nvPicPr>
          <p:blipFill>
            <a:blip r:embed="rId3">
              <a:duotone>
                <a:prstClr val="black"/>
                <a:schemeClr val="accent2">
                  <a:tint val="45000"/>
                  <a:satMod val="400000"/>
                </a:schemeClr>
              </a:duotone>
              <a:extLst>
                <a:ext uri="{837473B0-CC2E-450A-ABE3-18F120FF3D39}">
                  <a1611:picAttrSrcUrl xmlns:a1611="http://schemas.microsoft.com/office/drawing/2016/11/main" r:id="rId4"/>
                </a:ext>
              </a:extLst>
            </a:blip>
            <a:stretch>
              <a:fillRect/>
            </a:stretch>
          </p:blipFill>
          <p:spPr>
            <a:xfrm>
              <a:off x="653142" y="4436754"/>
              <a:ext cx="1023258" cy="1007754"/>
            </a:xfrm>
            <a:prstGeom prst="rect">
              <a:avLst/>
            </a:prstGeom>
          </p:spPr>
        </p:pic>
        <p:sp>
          <p:nvSpPr>
            <p:cNvPr id="21" name="TextBox 20">
              <a:extLst>
                <a:ext uri="{FF2B5EF4-FFF2-40B4-BE49-F238E27FC236}">
                  <a16:creationId xmlns:a16="http://schemas.microsoft.com/office/drawing/2014/main" id="{03139F33-98F8-804A-8EB5-14D9B90B0D1F}"/>
                </a:ext>
              </a:extLst>
            </p:cNvPr>
            <p:cNvSpPr txBox="1"/>
            <p:nvPr/>
          </p:nvSpPr>
          <p:spPr>
            <a:xfrm>
              <a:off x="457200" y="5705673"/>
              <a:ext cx="1747156" cy="646331"/>
            </a:xfrm>
            <a:prstGeom prst="rect">
              <a:avLst/>
            </a:prstGeom>
            <a:noFill/>
          </p:spPr>
          <p:txBody>
            <a:bodyPr wrap="square">
              <a:spAutoFit/>
            </a:bodyPr>
            <a:lstStyle/>
            <a:p>
              <a:r>
                <a:rPr lang="en-CA" dirty="0"/>
                <a:t>Cocaine-treated males</a:t>
              </a:r>
              <a:endParaRPr lang="en-US" dirty="0"/>
            </a:p>
          </p:txBody>
        </p:sp>
      </p:grpSp>
      <p:grpSp>
        <p:nvGrpSpPr>
          <p:cNvPr id="22" name="Group 21">
            <a:extLst>
              <a:ext uri="{FF2B5EF4-FFF2-40B4-BE49-F238E27FC236}">
                <a16:creationId xmlns:a16="http://schemas.microsoft.com/office/drawing/2014/main" id="{C357E685-586F-564C-A784-F7441F2584EE}"/>
              </a:ext>
            </a:extLst>
          </p:cNvPr>
          <p:cNvGrpSpPr/>
          <p:nvPr/>
        </p:nvGrpSpPr>
        <p:grpSpPr>
          <a:xfrm>
            <a:off x="5438789" y="2735445"/>
            <a:ext cx="2220687" cy="1905923"/>
            <a:chOff x="1453242" y="4422926"/>
            <a:chExt cx="2220687" cy="1905923"/>
          </a:xfrm>
        </p:grpSpPr>
        <p:pic>
          <p:nvPicPr>
            <p:cNvPr id="23" name="Picture 22" descr="A cartoon mouse with long tail&#10;&#10;Description automatically generated">
              <a:extLst>
                <a:ext uri="{FF2B5EF4-FFF2-40B4-BE49-F238E27FC236}">
                  <a16:creationId xmlns:a16="http://schemas.microsoft.com/office/drawing/2014/main" id="{6389AB89-14F1-1443-A28C-6FCC4326F7D4}"/>
                </a:ext>
              </a:extLst>
            </p:cNvPr>
            <p:cNvPicPr>
              <a:picLocks noChangeAspect="1"/>
            </p:cNvPicPr>
            <p:nvPr/>
          </p:nvPicPr>
          <p:blipFill>
            <a:blip r:embed="rId3">
              <a:duotone>
                <a:schemeClr val="accent2">
                  <a:shade val="45000"/>
                  <a:satMod val="135000"/>
                </a:schemeClr>
                <a:prstClr val="white"/>
              </a:duotone>
              <a:extLst>
                <a:ext uri="{837473B0-CC2E-450A-ABE3-18F120FF3D39}">
                  <a1611:picAttrSrcUrl xmlns:a1611="http://schemas.microsoft.com/office/drawing/2016/11/main" r:id="rId4"/>
                </a:ext>
              </a:extLst>
            </a:blip>
            <a:stretch>
              <a:fillRect/>
            </a:stretch>
          </p:blipFill>
          <p:spPr>
            <a:xfrm>
              <a:off x="1676400" y="4422926"/>
              <a:ext cx="1023258" cy="1007754"/>
            </a:xfrm>
            <a:prstGeom prst="rect">
              <a:avLst/>
            </a:prstGeom>
          </p:spPr>
        </p:pic>
        <p:sp>
          <p:nvSpPr>
            <p:cNvPr id="24" name="TextBox 23">
              <a:extLst>
                <a:ext uri="{FF2B5EF4-FFF2-40B4-BE49-F238E27FC236}">
                  <a16:creationId xmlns:a16="http://schemas.microsoft.com/office/drawing/2014/main" id="{0E69352D-CF2C-2D45-B7A3-D097EE988A6E}"/>
                </a:ext>
              </a:extLst>
            </p:cNvPr>
            <p:cNvSpPr txBox="1"/>
            <p:nvPr/>
          </p:nvSpPr>
          <p:spPr>
            <a:xfrm>
              <a:off x="1453242" y="5682518"/>
              <a:ext cx="2220687" cy="646331"/>
            </a:xfrm>
            <a:prstGeom prst="rect">
              <a:avLst/>
            </a:prstGeom>
            <a:noFill/>
          </p:spPr>
          <p:txBody>
            <a:bodyPr wrap="square">
              <a:spAutoFit/>
            </a:bodyPr>
            <a:lstStyle/>
            <a:p>
              <a:pPr lvl="1"/>
              <a:r>
                <a:rPr lang="en-CA" dirty="0"/>
                <a:t>Cocaine-treated females</a:t>
              </a:r>
            </a:p>
          </p:txBody>
        </p:sp>
      </p:grpSp>
      <p:sp>
        <p:nvSpPr>
          <p:cNvPr id="26" name="TextBox 25">
            <a:extLst>
              <a:ext uri="{FF2B5EF4-FFF2-40B4-BE49-F238E27FC236}">
                <a16:creationId xmlns:a16="http://schemas.microsoft.com/office/drawing/2014/main" id="{187C3934-4FF2-9E4D-9792-59470C0DDAAD}"/>
              </a:ext>
            </a:extLst>
          </p:cNvPr>
          <p:cNvSpPr txBox="1"/>
          <p:nvPr/>
        </p:nvSpPr>
        <p:spPr>
          <a:xfrm>
            <a:off x="4572000" y="2218138"/>
            <a:ext cx="207506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CA" dirty="0"/>
              <a:t>20 mg/kg of cocaine </a:t>
            </a:r>
            <a:endParaRPr lang="en-US" dirty="0"/>
          </a:p>
        </p:txBody>
      </p:sp>
      <p:sp>
        <p:nvSpPr>
          <p:cNvPr id="28" name="TextBox 27">
            <a:extLst>
              <a:ext uri="{FF2B5EF4-FFF2-40B4-BE49-F238E27FC236}">
                <a16:creationId xmlns:a16="http://schemas.microsoft.com/office/drawing/2014/main" id="{34D2E1CA-B3F5-6C4D-8EB7-BEF67FE50EC7}"/>
              </a:ext>
            </a:extLst>
          </p:cNvPr>
          <p:cNvSpPr txBox="1"/>
          <p:nvPr/>
        </p:nvSpPr>
        <p:spPr>
          <a:xfrm>
            <a:off x="6727370" y="2183904"/>
            <a:ext cx="2514600" cy="369332"/>
          </a:xfrm>
          <a:prstGeom prst="rect">
            <a:avLst/>
          </a:prstGeom>
          <a:noFill/>
        </p:spPr>
        <p:txBody>
          <a:bodyPr wrap="square">
            <a:spAutoFit/>
          </a:bodyPr>
          <a:lstStyle/>
          <a:p>
            <a:r>
              <a:rPr lang="en-CA" b="1" dirty="0"/>
              <a:t>10 consecutive days</a:t>
            </a:r>
            <a:endParaRPr lang="en-US" dirty="0"/>
          </a:p>
        </p:txBody>
      </p:sp>
      <p:sp>
        <p:nvSpPr>
          <p:cNvPr id="30" name="TextBox 29">
            <a:extLst>
              <a:ext uri="{FF2B5EF4-FFF2-40B4-BE49-F238E27FC236}">
                <a16:creationId xmlns:a16="http://schemas.microsoft.com/office/drawing/2014/main" id="{5773EB6C-9818-D14F-B33A-DD929E61B53B}"/>
              </a:ext>
            </a:extLst>
          </p:cNvPr>
          <p:cNvSpPr txBox="1"/>
          <p:nvPr/>
        </p:nvSpPr>
        <p:spPr>
          <a:xfrm>
            <a:off x="5714286" y="4870860"/>
            <a:ext cx="4702628" cy="369332"/>
          </a:xfrm>
          <a:prstGeom prst="rect">
            <a:avLst/>
          </a:prstGeom>
          <a:noFill/>
        </p:spPr>
        <p:txBody>
          <a:bodyPr wrap="square">
            <a:spAutoFit/>
          </a:bodyPr>
          <a:lstStyle/>
          <a:p>
            <a:r>
              <a:rPr lang="en-CA" dirty="0"/>
              <a:t> </a:t>
            </a:r>
            <a:r>
              <a:rPr lang="en-CA" b="1" dirty="0"/>
              <a:t>withdrawal</a:t>
            </a:r>
            <a:endParaRPr lang="en-US" dirty="0"/>
          </a:p>
        </p:txBody>
      </p:sp>
      <p:sp>
        <p:nvSpPr>
          <p:cNvPr id="33" name="Down Arrow 32">
            <a:extLst>
              <a:ext uri="{FF2B5EF4-FFF2-40B4-BE49-F238E27FC236}">
                <a16:creationId xmlns:a16="http://schemas.microsoft.com/office/drawing/2014/main" id="{DDBFCD7B-9155-124C-AD46-55F607AB2ABD}"/>
              </a:ext>
            </a:extLst>
          </p:cNvPr>
          <p:cNvSpPr/>
          <p:nvPr/>
        </p:nvSpPr>
        <p:spPr>
          <a:xfrm>
            <a:off x="5225143" y="4612750"/>
            <a:ext cx="384389" cy="1183893"/>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9837028-8EDD-4D47-B1CE-C50CFBC3B9F2}"/>
              </a:ext>
            </a:extLst>
          </p:cNvPr>
          <p:cNvSpPr txBox="1"/>
          <p:nvPr/>
        </p:nvSpPr>
        <p:spPr>
          <a:xfrm>
            <a:off x="161938" y="5867633"/>
            <a:ext cx="8507185"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CA" b="1" dirty="0"/>
              <a:t>Tissue Collection</a:t>
            </a:r>
            <a:r>
              <a:rPr lang="en-CA" dirty="0"/>
              <a:t>: Nucleus </a:t>
            </a:r>
            <a:r>
              <a:rPr lang="en-CA" dirty="0" err="1"/>
              <a:t>accumbens</a:t>
            </a:r>
            <a:r>
              <a:rPr lang="en-CA" dirty="0"/>
              <a:t> tissue was dissected.</a:t>
            </a:r>
          </a:p>
          <a:p>
            <a:r>
              <a:rPr lang="en-CA" b="1" dirty="0"/>
              <a:t>RNA-seq Analysis</a:t>
            </a:r>
            <a:r>
              <a:rPr lang="en-CA" dirty="0"/>
              <a:t>: Gene expression profiling was performed using high-throughput sequencing</a:t>
            </a:r>
          </a:p>
        </p:txBody>
      </p:sp>
      <p:sp>
        <p:nvSpPr>
          <p:cNvPr id="36" name="Down Arrow 35">
            <a:extLst>
              <a:ext uri="{FF2B5EF4-FFF2-40B4-BE49-F238E27FC236}">
                <a16:creationId xmlns:a16="http://schemas.microsoft.com/office/drawing/2014/main" id="{599CE985-5BDD-514F-BA5B-9C62D33F9045}"/>
              </a:ext>
            </a:extLst>
          </p:cNvPr>
          <p:cNvSpPr/>
          <p:nvPr/>
        </p:nvSpPr>
        <p:spPr>
          <a:xfrm>
            <a:off x="1234189" y="4683740"/>
            <a:ext cx="384389" cy="1183893"/>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83D0730-229B-0C48-B653-FF569A68851D}"/>
              </a:ext>
            </a:extLst>
          </p:cNvPr>
          <p:cNvSpPr txBox="1"/>
          <p:nvPr/>
        </p:nvSpPr>
        <p:spPr>
          <a:xfrm>
            <a:off x="2793560" y="5080590"/>
            <a:ext cx="1023258" cy="369332"/>
          </a:xfrm>
          <a:prstGeom prst="rect">
            <a:avLst/>
          </a:prstGeom>
          <a:noFill/>
        </p:spPr>
        <p:txBody>
          <a:bodyPr wrap="square">
            <a:spAutoFit/>
          </a:bodyPr>
          <a:lstStyle/>
          <a:p>
            <a:r>
              <a:rPr lang="en-CA" b="1" dirty="0"/>
              <a:t>28 days</a:t>
            </a:r>
            <a:endParaRPr lang="en-US" dirty="0"/>
          </a:p>
        </p:txBody>
      </p:sp>
      <p:sp>
        <p:nvSpPr>
          <p:cNvPr id="39" name="TextBox 38">
            <a:extLst>
              <a:ext uri="{FF2B5EF4-FFF2-40B4-BE49-F238E27FC236}">
                <a16:creationId xmlns:a16="http://schemas.microsoft.com/office/drawing/2014/main" id="{7F7CBF1E-78AB-4249-AC22-D420EB38F99D}"/>
              </a:ext>
            </a:extLst>
          </p:cNvPr>
          <p:cNvSpPr txBox="1"/>
          <p:nvPr/>
        </p:nvSpPr>
        <p:spPr>
          <a:xfrm>
            <a:off x="4554286" y="3879568"/>
            <a:ext cx="2092778" cy="261610"/>
          </a:xfrm>
          <a:prstGeom prst="rect">
            <a:avLst/>
          </a:prstGeom>
          <a:noFill/>
        </p:spPr>
        <p:txBody>
          <a:bodyPr wrap="square" rtlCol="0">
            <a:spAutoFit/>
          </a:bodyPr>
          <a:lstStyle/>
          <a:p>
            <a:r>
              <a:rPr lang="en-US" sz="1100" dirty="0"/>
              <a:t>Ovary-removed</a:t>
            </a:r>
          </a:p>
        </p:txBody>
      </p:sp>
    </p:spTree>
    <p:extLst>
      <p:ext uri="{BB962C8B-B14F-4D97-AF65-F5344CB8AC3E}">
        <p14:creationId xmlns:p14="http://schemas.microsoft.com/office/powerpoint/2010/main" val="570645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CA" sz="4500"/>
              <a:t>Research Questions</a:t>
            </a:r>
          </a:p>
        </p:txBody>
      </p:sp>
      <p:graphicFrame>
        <p:nvGraphicFramePr>
          <p:cNvPr id="5" name="Content Placeholder 2">
            <a:extLst>
              <a:ext uri="{FF2B5EF4-FFF2-40B4-BE49-F238E27FC236}">
                <a16:creationId xmlns:a16="http://schemas.microsoft.com/office/drawing/2014/main" id="{96786A5E-F02A-1213-A088-22B19B8C220D}"/>
              </a:ext>
            </a:extLst>
          </p:cNvPr>
          <p:cNvGraphicFramePr>
            <a:graphicFrameLocks noGrp="1"/>
          </p:cNvGraphicFramePr>
          <p:nvPr>
            <p:ph idx="1"/>
            <p:extLst>
              <p:ext uri="{D42A27DB-BD31-4B8C-83A1-F6EECF244321}">
                <p14:modId xmlns:p14="http://schemas.microsoft.com/office/powerpoint/2010/main" val="2959196862"/>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9946" y="-90965"/>
            <a:ext cx="8041821" cy="1828444"/>
          </a:xfrm>
        </p:spPr>
        <p:txBody>
          <a:bodyPr vert="horz" lIns="91440" tIns="45720" rIns="91440" bIns="45720" rtlCol="0" anchor="ctr">
            <a:normAutofit/>
          </a:bodyPr>
          <a:lstStyle/>
          <a:p>
            <a:pPr algn="l" defTabSz="914400">
              <a:lnSpc>
                <a:spcPct val="90000"/>
              </a:lnSpc>
            </a:pPr>
            <a:r>
              <a:rPr lang="en-US" sz="4500" kern="1200" dirty="0">
                <a:solidFill>
                  <a:schemeClr val="tx1"/>
                </a:solidFill>
                <a:latin typeface="+mj-lt"/>
                <a:ea typeface="+mj-ea"/>
                <a:cs typeface="+mj-cs"/>
              </a:rPr>
              <a:t>Methods: Gene Selection and Analysis</a:t>
            </a:r>
          </a:p>
        </p:txBody>
      </p:sp>
      <p:graphicFrame>
        <p:nvGraphicFramePr>
          <p:cNvPr id="19" name="Content Placeholder 2">
            <a:extLst>
              <a:ext uri="{FF2B5EF4-FFF2-40B4-BE49-F238E27FC236}">
                <a16:creationId xmlns:a16="http://schemas.microsoft.com/office/drawing/2014/main" id="{4A961B00-5162-BAB2-01FD-07CD4D763BC9}"/>
              </a:ext>
            </a:extLst>
          </p:cNvPr>
          <p:cNvGraphicFramePr>
            <a:graphicFrameLocks noGrp="1"/>
          </p:cNvGraphicFramePr>
          <p:nvPr>
            <p:ph idx="1"/>
            <p:extLst>
              <p:ext uri="{D42A27DB-BD31-4B8C-83A1-F6EECF244321}">
                <p14:modId xmlns:p14="http://schemas.microsoft.com/office/powerpoint/2010/main" val="1142660228"/>
              </p:ext>
            </p:extLst>
          </p:nvPr>
        </p:nvGraphicFramePr>
        <p:xfrm>
          <a:off x="628650" y="2398626"/>
          <a:ext cx="3868820" cy="37304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112E82B5-D264-0241-9D7A-B0E556BD80A2}"/>
              </a:ext>
            </a:extLst>
          </p:cNvPr>
          <p:cNvSpPr txBox="1"/>
          <p:nvPr/>
        </p:nvSpPr>
        <p:spPr>
          <a:xfrm>
            <a:off x="4641866" y="2738581"/>
            <a:ext cx="3873484" cy="373046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700" b="1" dirty="0" err="1">
                <a:highlight>
                  <a:srgbClr val="FFFF00"/>
                </a:highlight>
              </a:rPr>
              <a:t>Cartpt</a:t>
            </a:r>
            <a:r>
              <a:rPr lang="en-US" sz="1700" b="1" dirty="0">
                <a:highlight>
                  <a:srgbClr val="FFFF00"/>
                </a:highlight>
              </a:rPr>
              <a:t> (Cocaine- and Amphetamine-Regulated Transcript</a:t>
            </a:r>
            <a:r>
              <a:rPr lang="en-US" sz="1700" b="1" dirty="0"/>
              <a:t>)</a:t>
            </a:r>
            <a:r>
              <a:rPr lang="en-US" sz="1700" dirty="0"/>
              <a:t> is directly activated by cocaine and is highly expressed in the </a:t>
            </a:r>
            <a:r>
              <a:rPr lang="en-US" sz="1700" dirty="0" err="1"/>
              <a:t>Nac</a:t>
            </a:r>
            <a:r>
              <a:rPr lang="en-US" sz="1700" dirty="0"/>
              <a:t> (</a:t>
            </a:r>
            <a:r>
              <a:rPr lang="en-US" sz="1700" dirty="0" err="1"/>
              <a:t>Lohoff</a:t>
            </a:r>
            <a:r>
              <a:rPr lang="en-US" sz="1700" dirty="0"/>
              <a:t>, et al., 2008)</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dirty="0"/>
              <a:t>The </a:t>
            </a:r>
            <a:r>
              <a:rPr lang="en-US" sz="1700" b="1" dirty="0">
                <a:highlight>
                  <a:srgbClr val="FFFF00"/>
                </a:highlight>
              </a:rPr>
              <a:t>Drd1–Drd5 dopamine receptor genes</a:t>
            </a:r>
            <a:r>
              <a:rPr lang="en-US" sz="1700" dirty="0">
                <a:highlight>
                  <a:srgbClr val="FFFF00"/>
                </a:highlight>
              </a:rPr>
              <a:t> </a:t>
            </a:r>
            <a:r>
              <a:rPr lang="en-US" sz="1700" dirty="0"/>
              <a:t>-Dysregulation of these genes is linked to altered cocaine sensitivity, withdrawal symptoms, and sex-specific addiction vulnerability (</a:t>
            </a:r>
            <a:r>
              <a:rPr lang="en-US" sz="1700" dirty="0" err="1"/>
              <a:t>Ozbum</a:t>
            </a:r>
            <a:r>
              <a:rPr lang="en-US" sz="1700" dirty="0"/>
              <a:t>, et al., 2015; Zhang L, et al., 2004).</a:t>
            </a:r>
          </a:p>
        </p:txBody>
      </p:sp>
      <p:sp>
        <p:nvSpPr>
          <p:cNvPr id="11" name="TextBox 10">
            <a:extLst>
              <a:ext uri="{FF2B5EF4-FFF2-40B4-BE49-F238E27FC236}">
                <a16:creationId xmlns:a16="http://schemas.microsoft.com/office/drawing/2014/main" id="{6E063D08-240C-7640-95B5-860EC9261109}"/>
              </a:ext>
            </a:extLst>
          </p:cNvPr>
          <p:cNvSpPr txBox="1"/>
          <p:nvPr/>
        </p:nvSpPr>
        <p:spPr>
          <a:xfrm>
            <a:off x="359229" y="1366778"/>
            <a:ext cx="8490857" cy="923330"/>
          </a:xfrm>
          <a:prstGeom prst="rect">
            <a:avLst/>
          </a:prstGeom>
          <a:noFill/>
        </p:spPr>
        <p:txBody>
          <a:bodyPr wrap="square">
            <a:spAutoFit/>
          </a:bodyPr>
          <a:lstStyle/>
          <a:p>
            <a:pPr lvl="0" algn="ctr"/>
            <a:r>
              <a:rPr lang="en-CA" dirty="0"/>
              <a:t>One of the most consistent findings in addiction neuroscience is the </a:t>
            </a:r>
            <a:r>
              <a:rPr lang="en-CA" b="1" dirty="0"/>
              <a:t>long-lasting dysregulation of dopamine receptor signaling</a:t>
            </a:r>
            <a:r>
              <a:rPr lang="en-CA" dirty="0"/>
              <a:t>, </a:t>
            </a:r>
          </a:p>
          <a:p>
            <a:pPr lvl="0" algn="ctr"/>
            <a:r>
              <a:rPr lang="en-CA" dirty="0"/>
              <a:t>which varies between males and females.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73770"/>
            <a:ext cx="2415246" cy="2027227"/>
          </a:xfrm>
        </p:spPr>
        <p:txBody>
          <a:bodyPr anchor="t">
            <a:normAutofit/>
          </a:bodyPr>
          <a:lstStyle/>
          <a:p>
            <a:pPr>
              <a:lnSpc>
                <a:spcPct val="90000"/>
              </a:lnSpc>
            </a:pPr>
            <a:r>
              <a:rPr lang="en-CA" sz="2900">
                <a:solidFill>
                  <a:srgbClr val="FFFFFF"/>
                </a:solidFill>
              </a:rPr>
              <a:t>Methods: Dataset and Preprocessing</a:t>
            </a:r>
          </a:p>
        </p:txBody>
      </p:sp>
      <p:graphicFrame>
        <p:nvGraphicFramePr>
          <p:cNvPr id="5" name="Content Placeholder 2">
            <a:extLst>
              <a:ext uri="{FF2B5EF4-FFF2-40B4-BE49-F238E27FC236}">
                <a16:creationId xmlns:a16="http://schemas.microsoft.com/office/drawing/2014/main" id="{920A384B-BEAC-B1BD-76EB-CF76B0EA153D}"/>
              </a:ext>
            </a:extLst>
          </p:cNvPr>
          <p:cNvGraphicFramePr>
            <a:graphicFrameLocks noGrp="1"/>
          </p:cNvGraphicFramePr>
          <p:nvPr>
            <p:ph idx="1"/>
            <p:extLst>
              <p:ext uri="{D42A27DB-BD31-4B8C-83A1-F6EECF244321}">
                <p14:modId xmlns:p14="http://schemas.microsoft.com/office/powerpoint/2010/main" val="1054610109"/>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182A6-7AF0-2643-A765-95E2CEBBBDC9}"/>
              </a:ext>
            </a:extLst>
          </p:cNvPr>
          <p:cNvSpPr>
            <a:spLocks noGrp="1"/>
          </p:cNvSpPr>
          <p:nvPr>
            <p:ph type="title"/>
          </p:nvPr>
        </p:nvSpPr>
        <p:spPr>
          <a:xfrm>
            <a:off x="657519" y="160863"/>
            <a:ext cx="3175795" cy="1616203"/>
          </a:xfrm>
        </p:spPr>
        <p:txBody>
          <a:bodyPr vert="horz" lIns="91440" tIns="45720" rIns="91440" bIns="45720" rtlCol="0" anchor="b">
            <a:normAutofit/>
          </a:bodyPr>
          <a:lstStyle/>
          <a:p>
            <a:pPr algn="l" defTabSz="914400">
              <a:lnSpc>
                <a:spcPct val="90000"/>
              </a:lnSpc>
            </a:pPr>
            <a:r>
              <a:rPr lang="en-US" sz="2200" dirty="0"/>
              <a:t>Linear Models: Testing Sex and Condition Effects on Total Gene Expression </a:t>
            </a:r>
            <a:br>
              <a:rPr lang="en-US" sz="2200" dirty="0"/>
            </a:br>
            <a:endParaRPr lang="en-US" sz="2200" dirty="0"/>
          </a:p>
        </p:txBody>
      </p:sp>
      <p:sp>
        <p:nvSpPr>
          <p:cNvPr id="8" name="TextBox 7">
            <a:extLst>
              <a:ext uri="{FF2B5EF4-FFF2-40B4-BE49-F238E27FC236}">
                <a16:creationId xmlns:a16="http://schemas.microsoft.com/office/drawing/2014/main" id="{7DD92270-C1B4-9F4E-B722-E180631F1DD4}"/>
              </a:ext>
            </a:extLst>
          </p:cNvPr>
          <p:cNvSpPr txBox="1"/>
          <p:nvPr/>
        </p:nvSpPr>
        <p:spPr>
          <a:xfrm>
            <a:off x="657518" y="1821800"/>
            <a:ext cx="3175796" cy="4040297"/>
          </a:xfrm>
          <a:prstGeom prst="rect">
            <a:avLst/>
          </a:prstGeom>
        </p:spPr>
        <p:txBody>
          <a:bodyPr vert="horz" lIns="91440" tIns="45720" rIns="91440" bIns="45720" rtlCol="0" anchor="t">
            <a:normAutofit lnSpcReduction="10000"/>
          </a:bodyPr>
          <a:lstStyle/>
          <a:p>
            <a:pPr indent="-228600" defTabSz="914400">
              <a:lnSpc>
                <a:spcPct val="90000"/>
              </a:lnSpc>
              <a:spcAft>
                <a:spcPts val="600"/>
              </a:spcAft>
              <a:buFont typeface="Arial" panose="020B0604020202020204" pitchFamily="34" charset="0"/>
              <a:buChar char="•"/>
            </a:pPr>
            <a:r>
              <a:rPr lang="en-US" b="1" dirty="0">
                <a:highlight>
                  <a:srgbClr val="FFFF00"/>
                </a:highlight>
              </a:rPr>
              <a:t>Very slight upward trend in Naive group vs Cocaine</a:t>
            </a:r>
            <a:br>
              <a:rPr lang="en-US" dirty="0"/>
            </a:br>
            <a:r>
              <a:rPr lang="en-US" sz="1200" dirty="0"/>
              <a:t>→ Indicates that overall gene expression is </a:t>
            </a:r>
            <a:r>
              <a:rPr lang="en-US" sz="1200" b="1" dirty="0"/>
              <a:t>slightly higher</a:t>
            </a:r>
            <a:r>
              <a:rPr lang="en-US" sz="1200" dirty="0"/>
              <a:t> in Naive mice compared to Cocaine-withdrawn mice.</a:t>
            </a:r>
          </a:p>
          <a:p>
            <a:pPr indent="-228600" defTabSz="914400">
              <a:lnSpc>
                <a:spcPct val="90000"/>
              </a:lnSpc>
              <a:spcAft>
                <a:spcPts val="600"/>
              </a:spcAft>
              <a:buFont typeface="Arial" panose="020B0604020202020204" pitchFamily="34" charset="0"/>
              <a:buChar char="•"/>
            </a:pPr>
            <a:endParaRPr lang="en-US" sz="1200" dirty="0"/>
          </a:p>
          <a:p>
            <a:pPr indent="-228600" defTabSz="914400">
              <a:lnSpc>
                <a:spcPct val="90000"/>
              </a:lnSpc>
              <a:spcAft>
                <a:spcPts val="600"/>
              </a:spcAft>
              <a:buFont typeface="Arial" panose="020B0604020202020204" pitchFamily="34" charset="0"/>
              <a:buChar char="•"/>
            </a:pPr>
            <a:r>
              <a:rPr lang="en-US" b="1" dirty="0">
                <a:highlight>
                  <a:srgbClr val="FFFF00"/>
                </a:highlight>
              </a:rPr>
              <a:t>No strong difference between males and females</a:t>
            </a:r>
            <a:br>
              <a:rPr lang="en-US" dirty="0"/>
            </a:br>
            <a:r>
              <a:rPr lang="en-US" sz="1600" dirty="0"/>
              <a:t>→ Both sexes show very </a:t>
            </a:r>
            <a:r>
              <a:rPr lang="en-US" sz="1600" b="1" dirty="0"/>
              <a:t>similar expression distributions</a:t>
            </a:r>
            <a:r>
              <a:rPr lang="en-US" sz="1600" dirty="0"/>
              <a:t> in each condition.</a:t>
            </a:r>
          </a:p>
          <a:p>
            <a:pPr indent="-228600" defTabSz="914400">
              <a:lnSpc>
                <a:spcPct val="90000"/>
              </a:lnSpc>
              <a:spcAft>
                <a:spcPts val="600"/>
              </a:spcAft>
              <a:buFont typeface="Arial" panose="020B0604020202020204" pitchFamily="34" charset="0"/>
              <a:buChar char="•"/>
            </a:pPr>
            <a:endParaRPr lang="en-US" sz="1600" dirty="0"/>
          </a:p>
          <a:p>
            <a:pPr indent="-228600" defTabSz="914400">
              <a:lnSpc>
                <a:spcPct val="90000"/>
              </a:lnSpc>
              <a:spcAft>
                <a:spcPts val="600"/>
              </a:spcAft>
              <a:buFont typeface="Arial" panose="020B0604020202020204" pitchFamily="34" charset="0"/>
              <a:buChar char="•"/>
            </a:pPr>
            <a:r>
              <a:rPr lang="en-US" b="1" dirty="0"/>
              <a:t>Minimal interaction</a:t>
            </a:r>
            <a:br>
              <a:rPr lang="en-US" dirty="0"/>
            </a:br>
            <a:r>
              <a:rPr lang="en-US" sz="1600" dirty="0"/>
              <a:t>→ The nearly </a:t>
            </a:r>
            <a:r>
              <a:rPr lang="en-US" sz="1600" b="1" dirty="0"/>
              <a:t>parallel and flat lines</a:t>
            </a:r>
            <a:r>
              <a:rPr lang="en-US" sz="1600" dirty="0"/>
              <a:t> suggest there is </a:t>
            </a:r>
            <a:r>
              <a:rPr lang="en-US" sz="1600" b="1" dirty="0">
                <a:highlight>
                  <a:srgbClr val="FFFF00"/>
                </a:highlight>
              </a:rPr>
              <a:t>no interaction</a:t>
            </a:r>
            <a:r>
              <a:rPr lang="en-US" sz="1600" dirty="0">
                <a:highlight>
                  <a:srgbClr val="FFFF00"/>
                </a:highlight>
              </a:rPr>
              <a:t> between Sex and Condition</a:t>
            </a:r>
            <a:r>
              <a:rPr lang="en-US" sz="1600" dirty="0"/>
              <a:t>. Cocaine withdrawal does </a:t>
            </a:r>
            <a:r>
              <a:rPr lang="en-US" sz="1600" b="1" dirty="0"/>
              <a:t>not differentially impact</a:t>
            </a:r>
            <a:r>
              <a:rPr lang="en-US" sz="1600" dirty="0"/>
              <a:t> males vs. females.</a:t>
            </a:r>
            <a:endParaRPr lang="en-US" dirty="0"/>
          </a:p>
        </p:txBody>
      </p:sp>
      <p:pic>
        <p:nvPicPr>
          <p:cNvPr id="5" name="Content Placeholder 4" descr="A graph of a person and person&#10;&#10;Description automatically generated">
            <a:extLst>
              <a:ext uri="{FF2B5EF4-FFF2-40B4-BE49-F238E27FC236}">
                <a16:creationId xmlns:a16="http://schemas.microsoft.com/office/drawing/2014/main" id="{346C1EE8-DEB3-5D46-B996-0BB88F6E5EB8}"/>
              </a:ext>
            </a:extLst>
          </p:cNvPr>
          <p:cNvPicPr>
            <a:picLocks noGrp="1" noChangeAspect="1"/>
          </p:cNvPicPr>
          <p:nvPr>
            <p:ph idx="1"/>
          </p:nvPr>
        </p:nvPicPr>
        <p:blipFill rotWithShape="1">
          <a:blip r:embed="rId3"/>
          <a:srcRect l="1113" r="-1462" b="2"/>
          <a:stretch/>
        </p:blipFill>
        <p:spPr>
          <a:xfrm>
            <a:off x="4391167" y="877414"/>
            <a:ext cx="4446132" cy="4984683"/>
          </a:xfrm>
          <a:prstGeom prst="rect">
            <a:avLst/>
          </a:prstGeom>
        </p:spPr>
      </p:pic>
      <p:grpSp>
        <p:nvGrpSpPr>
          <p:cNvPr id="22" name="Group 21">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23" name="Rectangle 22">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2974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BF64-7F70-D649-9BAD-C07282398331}"/>
              </a:ext>
            </a:extLst>
          </p:cNvPr>
          <p:cNvSpPr>
            <a:spLocks noGrp="1"/>
          </p:cNvSpPr>
          <p:nvPr>
            <p:ph type="title"/>
          </p:nvPr>
        </p:nvSpPr>
        <p:spPr>
          <a:xfrm>
            <a:off x="657519" y="0"/>
            <a:ext cx="3175795" cy="1616203"/>
          </a:xfrm>
        </p:spPr>
        <p:txBody>
          <a:bodyPr vert="horz" lIns="91440" tIns="45720" rIns="91440" bIns="45720" rtlCol="0" anchor="b">
            <a:normAutofit/>
          </a:bodyPr>
          <a:lstStyle/>
          <a:p>
            <a:pPr algn="l" defTabSz="914400">
              <a:lnSpc>
                <a:spcPct val="90000"/>
              </a:lnSpc>
            </a:pPr>
            <a:r>
              <a:rPr lang="en-US" sz="2800" dirty="0"/>
              <a:t>Dopamine-Related Gene Expression</a:t>
            </a:r>
          </a:p>
        </p:txBody>
      </p:sp>
      <p:sp>
        <p:nvSpPr>
          <p:cNvPr id="7" name="TextBox 6">
            <a:extLst>
              <a:ext uri="{FF2B5EF4-FFF2-40B4-BE49-F238E27FC236}">
                <a16:creationId xmlns:a16="http://schemas.microsoft.com/office/drawing/2014/main" id="{8B64FA48-9492-C644-9D57-27E63F6EF043}"/>
              </a:ext>
            </a:extLst>
          </p:cNvPr>
          <p:cNvSpPr txBox="1"/>
          <p:nvPr/>
        </p:nvSpPr>
        <p:spPr>
          <a:xfrm>
            <a:off x="657519" y="1861457"/>
            <a:ext cx="3175796" cy="4119851"/>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700" b="1" dirty="0"/>
              <a:t>Drd2</a:t>
            </a:r>
            <a:r>
              <a:rPr lang="en-US" sz="1700" dirty="0"/>
              <a:t> and </a:t>
            </a:r>
            <a:r>
              <a:rPr lang="en-US" sz="1700" b="1" dirty="0"/>
              <a:t>Drd1a</a:t>
            </a:r>
            <a:r>
              <a:rPr lang="en-US" sz="1700" dirty="0"/>
              <a:t> show the </a:t>
            </a:r>
            <a:r>
              <a:rPr lang="en-US" sz="1700" b="1" dirty="0"/>
              <a:t>highest overall expression</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b="1" dirty="0"/>
              <a:t>Drd3</a:t>
            </a:r>
            <a:r>
              <a:rPr lang="en-US" sz="1700" dirty="0"/>
              <a:t> and </a:t>
            </a:r>
            <a:r>
              <a:rPr lang="en-US" sz="1700" b="1" dirty="0"/>
              <a:t>Drd4</a:t>
            </a:r>
            <a:r>
              <a:rPr lang="en-US" sz="1700" dirty="0"/>
              <a:t> exhibit </a:t>
            </a:r>
            <a:r>
              <a:rPr lang="en-US" sz="1700" b="1" dirty="0"/>
              <a:t>lower expression</a:t>
            </a:r>
            <a:r>
              <a:rPr lang="en-US" sz="1700" dirty="0"/>
              <a:t>, especially </a:t>
            </a:r>
            <a:r>
              <a:rPr lang="en-US" sz="1700" b="1" dirty="0"/>
              <a:t>Drd4</a:t>
            </a:r>
            <a:r>
              <a:rPr lang="en-US" sz="1700" dirty="0"/>
              <a:t>, which is nearly absent across all groups</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dirty="0"/>
              <a:t>No drastic expression shifts across treatment groups, but subtle differences may warrant further analysis</a:t>
            </a:r>
          </a:p>
        </p:txBody>
      </p:sp>
      <p:pic>
        <p:nvPicPr>
          <p:cNvPr id="5" name="Content Placeholder 4" descr="A blue squares with white text&#10;&#10;Description automatically generated">
            <a:extLst>
              <a:ext uri="{FF2B5EF4-FFF2-40B4-BE49-F238E27FC236}">
                <a16:creationId xmlns:a16="http://schemas.microsoft.com/office/drawing/2014/main" id="{D9695972-1A3C-E044-80BC-6948C8854483}"/>
              </a:ext>
            </a:extLst>
          </p:cNvPr>
          <p:cNvPicPr>
            <a:picLocks noGrp="1" noChangeAspect="1"/>
          </p:cNvPicPr>
          <p:nvPr>
            <p:ph idx="1"/>
          </p:nvPr>
        </p:nvPicPr>
        <p:blipFill rotWithShape="1">
          <a:blip r:embed="rId3"/>
          <a:srcRect l="-1312" r="220" b="2"/>
          <a:stretch/>
        </p:blipFill>
        <p:spPr>
          <a:xfrm>
            <a:off x="3984171" y="880586"/>
            <a:ext cx="5045529" cy="4984683"/>
          </a:xfrm>
          <a:prstGeom prst="rect">
            <a:avLst/>
          </a:prstGeom>
        </p:spPr>
      </p:pic>
      <p:grpSp>
        <p:nvGrpSpPr>
          <p:cNvPr id="12" name="Group 11">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3" name="Rectangle 12">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AED620B9-4FC1-4A40-BC11-7A315CE0BFDD}"/>
              </a:ext>
            </a:extLst>
          </p:cNvPr>
          <p:cNvSpPr txBox="1"/>
          <p:nvPr/>
        </p:nvSpPr>
        <p:spPr>
          <a:xfrm>
            <a:off x="4572000" y="5991125"/>
            <a:ext cx="1453243" cy="369332"/>
          </a:xfrm>
          <a:prstGeom prst="rect">
            <a:avLst/>
          </a:prstGeom>
          <a:noFill/>
          <a:ln>
            <a:noFill/>
          </a:ln>
        </p:spPr>
        <p:txBody>
          <a:bodyPr wrap="square" rtlCol="0">
            <a:spAutoFit/>
          </a:bodyPr>
          <a:lstStyle/>
          <a:p>
            <a:pPr algn="ctr"/>
            <a:r>
              <a:rPr lang="en-US" dirty="0"/>
              <a:t>Naive</a:t>
            </a:r>
          </a:p>
        </p:txBody>
      </p:sp>
      <p:sp>
        <p:nvSpPr>
          <p:cNvPr id="15" name="TextBox 14">
            <a:extLst>
              <a:ext uri="{FF2B5EF4-FFF2-40B4-BE49-F238E27FC236}">
                <a16:creationId xmlns:a16="http://schemas.microsoft.com/office/drawing/2014/main" id="{E0F4EDD4-6047-F44F-A480-FFA504951BDE}"/>
              </a:ext>
            </a:extLst>
          </p:cNvPr>
          <p:cNvSpPr txBox="1"/>
          <p:nvPr/>
        </p:nvSpPr>
        <p:spPr>
          <a:xfrm>
            <a:off x="6651113" y="5986511"/>
            <a:ext cx="1453243" cy="369332"/>
          </a:xfrm>
          <a:prstGeom prst="rect">
            <a:avLst/>
          </a:prstGeom>
          <a:noFill/>
          <a:ln>
            <a:noFill/>
          </a:ln>
        </p:spPr>
        <p:txBody>
          <a:bodyPr wrap="square" rtlCol="0">
            <a:spAutoFit/>
          </a:bodyPr>
          <a:lstStyle/>
          <a:p>
            <a:pPr algn="ctr"/>
            <a:r>
              <a:rPr lang="en-US" dirty="0"/>
              <a:t>Cocaine</a:t>
            </a:r>
          </a:p>
        </p:txBody>
      </p:sp>
      <p:sp>
        <p:nvSpPr>
          <p:cNvPr id="9" name="Left Brace 8">
            <a:extLst>
              <a:ext uri="{FF2B5EF4-FFF2-40B4-BE49-F238E27FC236}">
                <a16:creationId xmlns:a16="http://schemas.microsoft.com/office/drawing/2014/main" id="{00065130-F78C-E144-A42A-7943B4795093}"/>
              </a:ext>
            </a:extLst>
          </p:cNvPr>
          <p:cNvSpPr/>
          <p:nvPr/>
        </p:nvSpPr>
        <p:spPr>
          <a:xfrm rot="16200000">
            <a:off x="5309116" y="5135634"/>
            <a:ext cx="207744" cy="14149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Left Brace 15">
            <a:extLst>
              <a:ext uri="{FF2B5EF4-FFF2-40B4-BE49-F238E27FC236}">
                <a16:creationId xmlns:a16="http://schemas.microsoft.com/office/drawing/2014/main" id="{A7CDEA3C-AAA5-B74A-AD6F-D12DAEF71635}"/>
              </a:ext>
            </a:extLst>
          </p:cNvPr>
          <p:cNvSpPr/>
          <p:nvPr/>
        </p:nvSpPr>
        <p:spPr>
          <a:xfrm rot="16200000">
            <a:off x="7254730" y="5162608"/>
            <a:ext cx="207744" cy="14149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78499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7CC4-3AD9-544A-A7CB-9FEEA490D192}"/>
              </a:ext>
            </a:extLst>
          </p:cNvPr>
          <p:cNvSpPr>
            <a:spLocks noGrp="1"/>
          </p:cNvSpPr>
          <p:nvPr>
            <p:ph type="title"/>
          </p:nvPr>
        </p:nvSpPr>
        <p:spPr>
          <a:xfrm>
            <a:off x="657520" y="741391"/>
            <a:ext cx="3175795" cy="1616203"/>
          </a:xfrm>
        </p:spPr>
        <p:txBody>
          <a:bodyPr vert="horz" lIns="91440" tIns="45720" rIns="91440" bIns="45720" rtlCol="0" anchor="b">
            <a:normAutofit/>
          </a:bodyPr>
          <a:lstStyle/>
          <a:p>
            <a:pPr algn="l" defTabSz="914400">
              <a:lnSpc>
                <a:spcPct val="90000"/>
              </a:lnSpc>
            </a:pPr>
            <a:r>
              <a:rPr lang="en-US" sz="2800" dirty="0"/>
              <a:t>Dopamine Gene Expression by Sex</a:t>
            </a:r>
          </a:p>
        </p:txBody>
      </p:sp>
      <p:sp>
        <p:nvSpPr>
          <p:cNvPr id="7" name="TextBox 6">
            <a:extLst>
              <a:ext uri="{FF2B5EF4-FFF2-40B4-BE49-F238E27FC236}">
                <a16:creationId xmlns:a16="http://schemas.microsoft.com/office/drawing/2014/main" id="{223A1DE4-A4B4-FB49-8457-C4FE2C10D099}"/>
              </a:ext>
            </a:extLst>
          </p:cNvPr>
          <p:cNvSpPr txBox="1"/>
          <p:nvPr/>
        </p:nvSpPr>
        <p:spPr>
          <a:xfrm>
            <a:off x="657519" y="2533476"/>
            <a:ext cx="3175796" cy="344783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700" b="1" dirty="0" err="1"/>
              <a:t>Cartpt</a:t>
            </a:r>
            <a:r>
              <a:rPr lang="en-US" sz="1700" b="1" dirty="0"/>
              <a:t>, Drd1a, Drd2, Drd5</a:t>
            </a:r>
            <a:r>
              <a:rPr lang="en-US" sz="1700" dirty="0"/>
              <a:t> show </a:t>
            </a:r>
            <a:r>
              <a:rPr lang="en-US" sz="1700" b="1" dirty="0"/>
              <a:t>similar expression</a:t>
            </a:r>
            <a:r>
              <a:rPr lang="en-US" sz="1700" dirty="0"/>
              <a:t> across sexes</a:t>
            </a:r>
          </a:p>
          <a:p>
            <a:pPr indent="-228600" defTabSz="914400">
              <a:lnSpc>
                <a:spcPct val="90000"/>
              </a:lnSpc>
              <a:spcAft>
                <a:spcPts val="600"/>
              </a:spcAft>
              <a:buFont typeface="Arial" panose="020B0604020202020204" pitchFamily="34" charset="0"/>
              <a:buChar char="•"/>
            </a:pPr>
            <a:r>
              <a:rPr lang="en-US" sz="1700" b="1" dirty="0">
                <a:highlight>
                  <a:srgbClr val="FFFF00"/>
                </a:highlight>
              </a:rPr>
              <a:t>Drd3</a:t>
            </a:r>
            <a:r>
              <a:rPr lang="en-US" sz="1700" dirty="0">
                <a:highlight>
                  <a:srgbClr val="FFFF00"/>
                </a:highlight>
              </a:rPr>
              <a:t> shows a mild increase in females, but not statistically significant</a:t>
            </a:r>
          </a:p>
          <a:p>
            <a:pPr indent="-228600" defTabSz="914400">
              <a:lnSpc>
                <a:spcPct val="90000"/>
              </a:lnSpc>
              <a:spcAft>
                <a:spcPts val="600"/>
              </a:spcAft>
              <a:buFont typeface="Arial" panose="020B0604020202020204" pitchFamily="34" charset="0"/>
              <a:buChar char="•"/>
            </a:pPr>
            <a:r>
              <a:rPr lang="en-US" sz="1700" b="1" dirty="0"/>
              <a:t>Drd4</a:t>
            </a:r>
            <a:r>
              <a:rPr lang="en-US" sz="1700" dirty="0"/>
              <a:t> is expressed at very low levels in both sexes</a:t>
            </a:r>
          </a:p>
        </p:txBody>
      </p:sp>
      <p:pic>
        <p:nvPicPr>
          <p:cNvPr id="5" name="Content Placeholder 4" descr="A diagram of a gene expression&#10;&#10;Description automatically generated">
            <a:extLst>
              <a:ext uri="{FF2B5EF4-FFF2-40B4-BE49-F238E27FC236}">
                <a16:creationId xmlns:a16="http://schemas.microsoft.com/office/drawing/2014/main" id="{3D0E0C68-F290-E647-91C9-E04DA9C94A32}"/>
              </a:ext>
            </a:extLst>
          </p:cNvPr>
          <p:cNvPicPr>
            <a:picLocks noGrp="1" noChangeAspect="1"/>
          </p:cNvPicPr>
          <p:nvPr>
            <p:ph idx="1"/>
          </p:nvPr>
        </p:nvPicPr>
        <p:blipFill rotWithShape="1">
          <a:blip r:embed="rId2"/>
          <a:srcRect l="-4459" r="-2079" b="2"/>
          <a:stretch/>
        </p:blipFill>
        <p:spPr>
          <a:xfrm>
            <a:off x="3833315" y="877414"/>
            <a:ext cx="5310685" cy="4984683"/>
          </a:xfrm>
          <a:prstGeom prst="rect">
            <a:avLst/>
          </a:prstGeom>
        </p:spPr>
      </p:pic>
      <p:grpSp>
        <p:nvGrpSpPr>
          <p:cNvPr id="12" name="Group 11">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3" name="Rectangle 12">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0097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22C9C-FAB7-1C4B-AD53-C704EB0E0B5D}"/>
              </a:ext>
            </a:extLst>
          </p:cNvPr>
          <p:cNvSpPr>
            <a:spLocks noGrp="1"/>
          </p:cNvSpPr>
          <p:nvPr>
            <p:ph type="title"/>
          </p:nvPr>
        </p:nvSpPr>
        <p:spPr>
          <a:xfrm>
            <a:off x="657520" y="741391"/>
            <a:ext cx="3175795" cy="1616203"/>
          </a:xfrm>
        </p:spPr>
        <p:txBody>
          <a:bodyPr vert="horz" lIns="91440" tIns="45720" rIns="91440" bIns="45720" rtlCol="0" anchor="b">
            <a:normAutofit/>
          </a:bodyPr>
          <a:lstStyle/>
          <a:p>
            <a:pPr algn="l" defTabSz="914400">
              <a:lnSpc>
                <a:spcPct val="90000"/>
              </a:lnSpc>
            </a:pPr>
            <a:r>
              <a:rPr lang="en-US" sz="2600" dirty="0"/>
              <a:t>Dopamine-related gene expression differs </a:t>
            </a:r>
            <a:r>
              <a:rPr lang="en-US" sz="2600" dirty="0">
                <a:solidFill>
                  <a:srgbClr val="FF0000"/>
                </a:solidFill>
              </a:rPr>
              <a:t>after cocaine withdrawal</a:t>
            </a:r>
          </a:p>
        </p:txBody>
      </p:sp>
      <p:sp>
        <p:nvSpPr>
          <p:cNvPr id="7" name="TextBox 6">
            <a:extLst>
              <a:ext uri="{FF2B5EF4-FFF2-40B4-BE49-F238E27FC236}">
                <a16:creationId xmlns:a16="http://schemas.microsoft.com/office/drawing/2014/main" id="{0F4FD3C0-62D3-D143-9879-7B2A44DB7C9C}"/>
              </a:ext>
            </a:extLst>
          </p:cNvPr>
          <p:cNvSpPr txBox="1"/>
          <p:nvPr/>
        </p:nvSpPr>
        <p:spPr>
          <a:xfrm>
            <a:off x="657519" y="2533476"/>
            <a:ext cx="3175796" cy="344783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700" b="1" dirty="0">
                <a:highlight>
                  <a:srgbClr val="FFFF00"/>
                </a:highlight>
              </a:rPr>
              <a:t>Drd3</a:t>
            </a:r>
            <a:r>
              <a:rPr lang="en-US" sz="1700" dirty="0">
                <a:highlight>
                  <a:srgbClr val="FFFF00"/>
                </a:highlight>
              </a:rPr>
              <a:t> shows a </a:t>
            </a:r>
            <a:r>
              <a:rPr lang="en-US" sz="1700" b="1" dirty="0">
                <a:highlight>
                  <a:srgbClr val="FFFF00"/>
                </a:highlight>
              </a:rPr>
              <a:t>significant increase in the Naive group</a:t>
            </a:r>
            <a:r>
              <a:rPr lang="en-US" sz="1700" dirty="0">
                <a:highlight>
                  <a:srgbClr val="FFFF00"/>
                </a:highlight>
              </a:rPr>
              <a:t>, </a:t>
            </a:r>
            <a:r>
              <a:rPr lang="en-US" sz="1700" dirty="0"/>
              <a:t>suggesting cocaine withdrawal suppresses its expression</a:t>
            </a:r>
          </a:p>
          <a:p>
            <a:pPr indent="-228600" defTabSz="914400">
              <a:lnSpc>
                <a:spcPct val="90000"/>
              </a:lnSpc>
              <a:spcAft>
                <a:spcPts val="600"/>
              </a:spcAft>
              <a:buFont typeface="Arial" panose="020B0604020202020204" pitchFamily="34" charset="0"/>
              <a:buChar char="•"/>
            </a:pPr>
            <a:r>
              <a:rPr lang="en-US" sz="1700" b="1" dirty="0"/>
              <a:t>Drd2</a:t>
            </a:r>
            <a:r>
              <a:rPr lang="en-US" sz="1700" dirty="0"/>
              <a:t> and </a:t>
            </a:r>
            <a:r>
              <a:rPr lang="en-US" sz="1700" b="1" dirty="0"/>
              <a:t>Drd1a</a:t>
            </a:r>
            <a:r>
              <a:rPr lang="en-US" sz="1700" dirty="0"/>
              <a:t> also show reduced levels in the cocaine group</a:t>
            </a:r>
          </a:p>
          <a:p>
            <a:pPr indent="-228600" defTabSz="914400">
              <a:lnSpc>
                <a:spcPct val="90000"/>
              </a:lnSpc>
              <a:spcAft>
                <a:spcPts val="600"/>
              </a:spcAft>
              <a:buFont typeface="Arial" panose="020B0604020202020204" pitchFamily="34" charset="0"/>
              <a:buChar char="•"/>
            </a:pPr>
            <a:r>
              <a:rPr lang="en-US" sz="1700" b="1" dirty="0"/>
              <a:t>Drd4</a:t>
            </a:r>
            <a:r>
              <a:rPr lang="en-US" sz="1700" dirty="0"/>
              <a:t> is low across all samples, and </a:t>
            </a:r>
            <a:r>
              <a:rPr lang="en-US" sz="1700" b="1" dirty="0"/>
              <a:t>Drd5</a:t>
            </a:r>
            <a:r>
              <a:rPr lang="en-US" sz="1700" dirty="0"/>
              <a:t> shows mild upregulation in Naive</a:t>
            </a:r>
          </a:p>
        </p:txBody>
      </p:sp>
      <p:pic>
        <p:nvPicPr>
          <p:cNvPr id="5" name="Content Placeholder 4" descr="A graph of different colored boxes&#10;&#10;Description automatically generated">
            <a:extLst>
              <a:ext uri="{FF2B5EF4-FFF2-40B4-BE49-F238E27FC236}">
                <a16:creationId xmlns:a16="http://schemas.microsoft.com/office/drawing/2014/main" id="{1957816E-24FB-154B-9536-BEB196449AEA}"/>
              </a:ext>
            </a:extLst>
          </p:cNvPr>
          <p:cNvPicPr>
            <a:picLocks noGrp="1" noChangeAspect="1"/>
          </p:cNvPicPr>
          <p:nvPr>
            <p:ph idx="1"/>
          </p:nvPr>
        </p:nvPicPr>
        <p:blipFill rotWithShape="1">
          <a:blip r:embed="rId3"/>
          <a:srcRect l="-2537" t="2" r="-1"/>
          <a:stretch/>
        </p:blipFill>
        <p:spPr>
          <a:xfrm>
            <a:off x="4032719" y="1089387"/>
            <a:ext cx="5111281" cy="4984683"/>
          </a:xfrm>
          <a:prstGeom prst="rect">
            <a:avLst/>
          </a:prstGeom>
        </p:spPr>
      </p:pic>
      <p:grpSp>
        <p:nvGrpSpPr>
          <p:cNvPr id="12" name="Group 11">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3" name="Rectangle 12">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623C219D-C861-4D4D-BB30-62AA1D6CEDB9}"/>
              </a:ext>
            </a:extLst>
          </p:cNvPr>
          <p:cNvSpPr/>
          <p:nvPr/>
        </p:nvSpPr>
        <p:spPr>
          <a:xfrm>
            <a:off x="4033157" y="3342148"/>
            <a:ext cx="1698171" cy="273192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181F97A-F9B4-E949-BDFA-A16B98E76B79}"/>
              </a:ext>
            </a:extLst>
          </p:cNvPr>
          <p:cNvSpPr txBox="1"/>
          <p:nvPr/>
        </p:nvSpPr>
        <p:spPr>
          <a:xfrm>
            <a:off x="125335" y="5251946"/>
            <a:ext cx="3907384" cy="1077218"/>
          </a:xfrm>
          <a:prstGeom prst="rect">
            <a:avLst/>
          </a:prstGeom>
          <a:noFill/>
        </p:spPr>
        <p:txBody>
          <a:bodyPr wrap="square">
            <a:spAutoFit/>
          </a:bodyPr>
          <a:lstStyle/>
          <a:p>
            <a:r>
              <a:rPr lang="en-CA" sz="1600" dirty="0"/>
              <a:t>Cocaine withdrawal </a:t>
            </a:r>
            <a:r>
              <a:rPr lang="en-CA" sz="1600" dirty="0">
                <a:highlight>
                  <a:srgbClr val="FFFF00"/>
                </a:highlight>
              </a:rPr>
              <a:t>appears to </a:t>
            </a:r>
            <a:r>
              <a:rPr lang="en-CA" sz="1600" b="1" dirty="0">
                <a:highlight>
                  <a:srgbClr val="FFFF00"/>
                </a:highlight>
              </a:rPr>
              <a:t>suppress dopamine receptor gene expression</a:t>
            </a:r>
            <a:r>
              <a:rPr lang="en-CA" sz="1600" dirty="0"/>
              <a:t>, particularly </a:t>
            </a:r>
            <a:r>
              <a:rPr lang="en-CA" sz="1600" b="1" dirty="0"/>
              <a:t>Drd3</a:t>
            </a:r>
            <a:r>
              <a:rPr lang="en-CA" sz="1600" dirty="0"/>
              <a:t>, highlighting its potential role in addiction-related neuroplasticity.</a:t>
            </a:r>
          </a:p>
        </p:txBody>
      </p:sp>
    </p:spTree>
    <p:extLst>
      <p:ext uri="{BB962C8B-B14F-4D97-AF65-F5344CB8AC3E}">
        <p14:creationId xmlns:p14="http://schemas.microsoft.com/office/powerpoint/2010/main" val="42061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CA" sz="2600"/>
              <a:t>What Does Drd Gene Downregulation Suggest?</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2">
            <a:extLst>
              <a:ext uri="{FF2B5EF4-FFF2-40B4-BE49-F238E27FC236}">
                <a16:creationId xmlns:a16="http://schemas.microsoft.com/office/drawing/2014/main" id="{D401DCDC-AE8A-606E-E235-65713041743F}"/>
              </a:ext>
            </a:extLst>
          </p:cNvPr>
          <p:cNvGraphicFramePr>
            <a:graphicFrameLocks noGrp="1"/>
          </p:cNvGraphicFramePr>
          <p:nvPr>
            <p:ph idx="1"/>
            <p:extLst>
              <p:ext uri="{D42A27DB-BD31-4B8C-83A1-F6EECF244321}">
                <p14:modId xmlns:p14="http://schemas.microsoft.com/office/powerpoint/2010/main" val="21276822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CA" sz="3600"/>
              <a:t>Conclusions and Next Steps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6D21AF3A-5858-A66B-6A69-AC7A91059488}"/>
              </a:ext>
            </a:extLst>
          </p:cNvPr>
          <p:cNvGraphicFramePr>
            <a:graphicFrameLocks noGrp="1"/>
          </p:cNvGraphicFramePr>
          <p:nvPr>
            <p:ph idx="1"/>
            <p:extLst>
              <p:ext uri="{D42A27DB-BD31-4B8C-83A1-F6EECF244321}">
                <p14:modId xmlns:p14="http://schemas.microsoft.com/office/powerpoint/2010/main" val="118878089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FB7EA684739C43A52FDF425E25EBD2" ma:contentTypeVersion="14" ma:contentTypeDescription="Create a new document." ma:contentTypeScope="" ma:versionID="3f9785e97cdfe87d56639cec5f19342d">
  <xsd:schema xmlns:xsd="http://www.w3.org/2001/XMLSchema" xmlns:xs="http://www.w3.org/2001/XMLSchema" xmlns:p="http://schemas.microsoft.com/office/2006/metadata/properties" xmlns:ns2="20572694-c658-4e55-a60c-6811a5d0e8e3" xmlns:ns3="44548e9a-db4e-4661-aaa9-c428467c079a" targetNamespace="http://schemas.microsoft.com/office/2006/metadata/properties" ma:root="true" ma:fieldsID="4085f06dde61a4af1ad27df7d40619f5" ns2:_="" ns3:_="">
    <xsd:import namespace="20572694-c658-4e55-a60c-6811a5d0e8e3"/>
    <xsd:import namespace="44548e9a-db4e-4661-aaa9-c428467c079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572694-c658-4e55-a60c-6811a5d0e8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f12cebd-6e91-4712-9e29-3224073d0a7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548e9a-db4e-4661-aaa9-c428467c079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b385be24-90e2-4f20-8506-351c1d9da2fb}" ma:internalName="TaxCatchAll" ma:showField="CatchAllData" ma:web="44548e9a-db4e-4661-aaa9-c428467c07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0572694-c658-4e55-a60c-6811a5d0e8e3">
      <Terms xmlns="http://schemas.microsoft.com/office/infopath/2007/PartnerControls"/>
    </lcf76f155ced4ddcb4097134ff3c332f>
    <TaxCatchAll xmlns="44548e9a-db4e-4661-aaa9-c428467c079a" xsi:nil="true"/>
  </documentManagement>
</p:properties>
</file>

<file path=customXml/itemProps1.xml><?xml version="1.0" encoding="utf-8"?>
<ds:datastoreItem xmlns:ds="http://schemas.openxmlformats.org/officeDocument/2006/customXml" ds:itemID="{5DD66129-2C2D-4E5B-9192-DA06A98BCC0E}"/>
</file>

<file path=customXml/itemProps2.xml><?xml version="1.0" encoding="utf-8"?>
<ds:datastoreItem xmlns:ds="http://schemas.openxmlformats.org/officeDocument/2006/customXml" ds:itemID="{D64368E3-4EAC-4DFA-A5B7-F4C7058C03E5}"/>
</file>

<file path=customXml/itemProps3.xml><?xml version="1.0" encoding="utf-8"?>
<ds:datastoreItem xmlns:ds="http://schemas.openxmlformats.org/officeDocument/2006/customXml" ds:itemID="{8D082E81-97A4-4126-AD38-D1B51097C53F}"/>
</file>

<file path=docProps/app.xml><?xml version="1.0" encoding="utf-8"?>
<Properties xmlns="http://schemas.openxmlformats.org/officeDocument/2006/extended-properties" xmlns:vt="http://schemas.openxmlformats.org/officeDocument/2006/docPropsVTypes">
  <TotalTime>13074</TotalTime>
  <Words>1830</Words>
  <Application>Microsoft Macintosh PowerPoint</Application>
  <PresentationFormat>On-screen Show (4:3)</PresentationFormat>
  <Paragraphs>119</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-apple-system</vt:lpstr>
      <vt:lpstr>Arial</vt:lpstr>
      <vt:lpstr>Calibri</vt:lpstr>
      <vt:lpstr>Roboto Mono Web</vt:lpstr>
      <vt:lpstr>system-ui</vt:lpstr>
      <vt:lpstr>Office Theme</vt:lpstr>
      <vt:lpstr>Uncovering Molecular Adaptations in the Addicted Brain: A Focus on Dopamine Genes and Sex Differences</vt:lpstr>
      <vt:lpstr>PowerPoint Presentation</vt:lpstr>
      <vt:lpstr>What Happens with Repeated Use </vt:lpstr>
      <vt:lpstr>Research Study and Data</vt:lpstr>
      <vt:lpstr>Research Questions</vt:lpstr>
      <vt:lpstr>Methods: Gene Selection and Analysis</vt:lpstr>
      <vt:lpstr>Methods: Dataset and Preprocessing</vt:lpstr>
      <vt:lpstr>Linear Models: Testing Sex and Condition Effects on Total Gene Expression  </vt:lpstr>
      <vt:lpstr>Dopamine-Related Gene Expression</vt:lpstr>
      <vt:lpstr>Dopamine Gene Expression by Sex</vt:lpstr>
      <vt:lpstr>Dopamine-related gene expression differs after cocaine withdrawal</vt:lpstr>
      <vt:lpstr>What Does Drd Gene Downregulation Suggest?</vt:lpstr>
      <vt:lpstr>Conclusions and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Sex-Based Analysis of Dopamine-Related Gene Expression in Mice</dc:title>
  <dc:subject/>
  <dc:creator/>
  <cp:keywords/>
  <dc:description>generated using python-pptx</dc:description>
  <cp:lastModifiedBy>Nhi Nguyen</cp:lastModifiedBy>
  <cp:revision>6</cp:revision>
  <dcterms:created xsi:type="dcterms:W3CDTF">2013-01-27T09:14:16Z</dcterms:created>
  <dcterms:modified xsi:type="dcterms:W3CDTF">2025-04-15T02:24:56Z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0x0101009BFB7EA684739C43A52FDF425E25EBD2</vt:lpwstr>
  </property>
</Properties>
</file>