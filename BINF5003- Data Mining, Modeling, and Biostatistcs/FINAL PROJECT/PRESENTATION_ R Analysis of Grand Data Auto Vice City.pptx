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3" r:id="rId5"/>
    <p:sldMasterId id="214748372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Hanken Grotesk Medium"/>
      <p:regular r:id="rId23"/>
      <p:bold r:id="rId24"/>
      <p:italic r:id="rId25"/>
      <p:boldItalic r:id="rId26"/>
    </p:embeddedFont>
    <p:embeddedFont>
      <p:font typeface="DM Sans Medium"/>
      <p:regular r:id="rId27"/>
      <p:bold r:id="rId28"/>
      <p:italic r:id="rId29"/>
      <p:boldItalic r:id="rId30"/>
    </p:embeddedFont>
    <p:embeddedFont>
      <p:font typeface="Neuton Light"/>
      <p:regular r:id="rId31"/>
      <p:bold r:id="rId32"/>
      <p:boldItalic r:id="rId33"/>
    </p:embeddedFont>
    <p:embeddedFont>
      <p:font typeface="Hanken Grotesk"/>
      <p:regular r:id="rId34"/>
      <p:bold r:id="rId35"/>
      <p:italic r:id="rId36"/>
      <p:boldItalic r:id="rId37"/>
    </p:embeddedFont>
    <p:embeddedFont>
      <p:font typeface="Hanken Grotesk SemiBold"/>
      <p:regular r:id="rId38"/>
      <p:bold r:id="rId39"/>
      <p:italic r:id="rId40"/>
      <p:boldItalic r:id="rId41"/>
    </p:embeddedFont>
    <p:embeddedFont>
      <p:font typeface="Neuton"/>
      <p:regular r:id="rId42"/>
      <p:bold r:id="rId43"/>
      <p:italic r:id="rId44"/>
    </p:embeddedFont>
    <p:embeddedFont>
      <p:font typeface="Hanken Grotesk Light"/>
      <p:regular r:id="rId45"/>
      <p:bold r:id="rId46"/>
      <p:italic r:id="rId47"/>
      <p:boldItalic r:id="rId48"/>
    </p:embeddedFont>
    <p:embeddedFont>
      <p:font typeface="Merriweather"/>
      <p:regular r:id="rId49"/>
      <p:bold r:id="rId50"/>
      <p:italic r:id="rId51"/>
      <p:boldItalic r:id="rId52"/>
    </p:embeddedFont>
    <p:embeddedFont>
      <p:font typeface="DM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9292EE-F71B-4732-8EF2-EC0AAC3D2C31}">
  <a:tblStyle styleId="{559292EE-F71B-4732-8EF2-EC0AAC3D2C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SemiBold-italic.fntdata"/><Relationship Id="rId42" Type="http://schemas.openxmlformats.org/officeDocument/2006/relationships/font" Target="fonts/Neuton-regular.fntdata"/><Relationship Id="rId41" Type="http://schemas.openxmlformats.org/officeDocument/2006/relationships/font" Target="fonts/HankenGroteskSemiBold-boldItalic.fntdata"/><Relationship Id="rId44" Type="http://schemas.openxmlformats.org/officeDocument/2006/relationships/font" Target="fonts/Neuton-italic.fntdata"/><Relationship Id="rId43" Type="http://schemas.openxmlformats.org/officeDocument/2006/relationships/font" Target="fonts/Neuton-bold.fntdata"/><Relationship Id="rId46" Type="http://schemas.openxmlformats.org/officeDocument/2006/relationships/font" Target="fonts/HankenGroteskLight-bold.fntdata"/><Relationship Id="rId45" Type="http://schemas.openxmlformats.org/officeDocument/2006/relationships/font" Target="fonts/HankenGrotesk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HankenGroteskLight-boldItalic.fntdata"/><Relationship Id="rId47" Type="http://schemas.openxmlformats.org/officeDocument/2006/relationships/font" Target="fonts/HankenGroteskLight-italic.fntdata"/><Relationship Id="rId49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eutonLight-regular.fntdata"/><Relationship Id="rId30" Type="http://schemas.openxmlformats.org/officeDocument/2006/relationships/font" Target="fonts/DMSansMedium-boldItalic.fntdata"/><Relationship Id="rId33" Type="http://schemas.openxmlformats.org/officeDocument/2006/relationships/font" Target="fonts/NeutonLight-boldItalic.fntdata"/><Relationship Id="rId32" Type="http://schemas.openxmlformats.org/officeDocument/2006/relationships/font" Target="fonts/NeutonLight-bold.fntdata"/><Relationship Id="rId35" Type="http://schemas.openxmlformats.org/officeDocument/2006/relationships/font" Target="fonts/HankenGrotesk-bold.fntdata"/><Relationship Id="rId34" Type="http://schemas.openxmlformats.org/officeDocument/2006/relationships/font" Target="fonts/HankenGrotesk-regular.fntdata"/><Relationship Id="rId37" Type="http://schemas.openxmlformats.org/officeDocument/2006/relationships/font" Target="fonts/HankenGrotesk-boldItalic.fntdata"/><Relationship Id="rId36" Type="http://schemas.openxmlformats.org/officeDocument/2006/relationships/font" Target="fonts/HankenGrotesk-italic.fntdata"/><Relationship Id="rId39" Type="http://schemas.openxmlformats.org/officeDocument/2006/relationships/font" Target="fonts/HankenGroteskSemiBold-bold.fntdata"/><Relationship Id="rId38" Type="http://schemas.openxmlformats.org/officeDocument/2006/relationships/font" Target="fonts/HankenGroteskSemiBold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HankenGroteskMedium-bold.fntdata"/><Relationship Id="rId23" Type="http://schemas.openxmlformats.org/officeDocument/2006/relationships/font" Target="fonts/HankenGroteskMedium-regular.fntdata"/><Relationship Id="rId26" Type="http://schemas.openxmlformats.org/officeDocument/2006/relationships/font" Target="fonts/HankenGroteskMedium-boldItalic.fntdata"/><Relationship Id="rId25" Type="http://schemas.openxmlformats.org/officeDocument/2006/relationships/font" Target="fonts/HankenGroteskMedium-italic.fntdata"/><Relationship Id="rId28" Type="http://schemas.openxmlformats.org/officeDocument/2006/relationships/font" Target="fonts/DMSansMedium-bold.fntdata"/><Relationship Id="rId27" Type="http://schemas.openxmlformats.org/officeDocument/2006/relationships/font" Target="fonts/DMSansMedium-regular.fntdata"/><Relationship Id="rId29" Type="http://schemas.openxmlformats.org/officeDocument/2006/relationships/font" Target="fonts/DMSansMedium-italic.fntdata"/><Relationship Id="rId51" Type="http://schemas.openxmlformats.org/officeDocument/2006/relationships/font" Target="fonts/Merriweather-italic.fntdata"/><Relationship Id="rId50" Type="http://schemas.openxmlformats.org/officeDocument/2006/relationships/font" Target="fonts/Merriweather-bold.fntdata"/><Relationship Id="rId53" Type="http://schemas.openxmlformats.org/officeDocument/2006/relationships/font" Target="fonts/DMSans-regular.fntdata"/><Relationship Id="rId52" Type="http://schemas.openxmlformats.org/officeDocument/2006/relationships/font" Target="fonts/Merriweather-boldItalic.fntdata"/><Relationship Id="rId11" Type="http://schemas.openxmlformats.org/officeDocument/2006/relationships/slide" Target="slides/slide4.xml"/><Relationship Id="rId55" Type="http://schemas.openxmlformats.org/officeDocument/2006/relationships/font" Target="fonts/DMSans-italic.fntdata"/><Relationship Id="rId10" Type="http://schemas.openxmlformats.org/officeDocument/2006/relationships/slide" Target="slides/slide3.xml"/><Relationship Id="rId54" Type="http://schemas.openxmlformats.org/officeDocument/2006/relationships/font" Target="fonts/DMSans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schemas.openxmlformats.org/officeDocument/2006/relationships/font" Target="fonts/DM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a9170300f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aa9170300f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ad9c46e97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ad9c46e97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aa9170300f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aa9170300f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aa9170300f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aa9170300f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a5c7e2569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a5c7e2569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a3d851428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a3d851428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a3d851428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a3d851428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a3d851428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a3d851428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ad9c46e97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ad9c46e97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ad956dd78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ad956dd7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ad956dd78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ad956dd78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ad9c46e97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ad9c46e97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ad956dd78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ad956dd78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aa9170300f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aa9170300f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aa9170300f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aa9170300f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9" name="Google Shape;619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0" name="Google Shape;62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3" name="Google Shape;623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26" name="Google Shape;62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7" name="Google Shape;62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0" name="Google Shape;630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1" name="Google Shape;631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2" name="Google Shape;63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5" name="Google Shape;63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8" name="Google Shape;638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39" name="Google Shape;63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2" name="Google Shape;64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6" name="Google Shape;646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7" name="Google Shape;647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8" name="Google Shape;648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651" name="Google Shape;65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4" name="Google Shape;654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55" name="Google Shape;655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60" name="Google Shape;660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1" name="Google Shape;661;p5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2" name="Google Shape;662;p5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3" name="Google Shape;663;p5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4" name="Google Shape;664;p5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5" name="Google Shape;665;p5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6" name="Google Shape;666;p5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69" name="Google Shape;669;p6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0" name="Google Shape;670;p6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71" name="Google Shape;671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5" name="Google Shape;675;p6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6" name="Google Shape;676;p6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7" name="Google Shape;677;p6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78" name="Google Shape;678;p6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6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2" name="Google Shape;682;p6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3" name="Google Shape;683;p6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4" name="Google Shape;684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85" name="Google Shape;685;p6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6" name="Google Shape;686;p6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87" name="Google Shape;687;p6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0" name="Google Shape;690;p6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1" name="Google Shape;691;p6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2" name="Google Shape;692;p6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3" name="Google Shape;693;p6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4" name="Google Shape;694;p6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5" name="Google Shape;695;p6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6" name="Google Shape;696;p6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7" name="Google Shape;697;p6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8" name="Google Shape;698;p6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01" name="Google Shape;70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6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5" name="Google Shape;705;p6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06" name="Google Shape;706;p6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p6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8" name="Google Shape;70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9" name="Google Shape;70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10" name="Google Shape;710;p6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11" name="Google Shape;711;p6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4" name="Google Shape;714;p6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6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6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7" name="Google Shape;717;p6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718" name="Google Shape;718;p6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9" name="Google Shape;71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1" name="Google Shape;721;p6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2" name="Google Shape;722;p6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3" name="Google Shape;723;p6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726" name="Google Shape;72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6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6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1" name="Google Shape;731;p6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2" name="Google Shape;732;p6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3" name="Google Shape;733;p6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6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5" name="Google Shape;735;p6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36" name="Google Shape;736;p6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7" name="Google Shape;737;p6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738" name="Google Shape;738;p6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9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p69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2" name="Google Shape;742;p69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3" name="Google Shape;743;p69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44" name="Google Shape;744;p6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70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7" name="Google Shape;74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8" name="Google Shape;748;p70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9" name="Google Shape;749;p70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0" name="Google Shape;750;p70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1" name="Google Shape;751;p70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2" name="Google Shape;752;p70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3" name="Google Shape;753;p70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71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57" name="Google Shape;757;p71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8" name="Google Shape;758;p7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1" name="Google Shape;761;p72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62" name="Google Shape;762;p72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3" name="Google Shape;763;p72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3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66" name="Google Shape;766;p73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7" name="Google Shape;767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8" name="Google Shape;768;p73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69" name="Google Shape;769;p73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0" name="Google Shape;770;p7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74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3" name="Google Shape;773;p74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4" name="Google Shape;774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5" name="Google Shape;775;p74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776" name="Google Shape;776;p74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7" name="Google Shape;777;p74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8" name="Google Shape;778;p74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75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1" name="Google Shape;781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2" name="Google Shape;782;p75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75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84" name="Google Shape;784;p75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85" name="Google Shape;785;p7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8" name="Google Shape;788;p76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89" name="Google Shape;789;p76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0" name="Google Shape;790;p76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1" name="Google Shape;791;p76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2" name="Google Shape;792;p76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3" name="Google Shape;793;p76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4" name="Google Shape;794;p76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5" name="Google Shape;795;p76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6" name="Google Shape;796;p76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7" name="Google Shape;797;p76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8" name="Google Shape;798;p76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799" name="Google Shape;799;p76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0" name="Google Shape;800;p76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1" name="Google Shape;801;p76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2" name="Google Shape;802;p76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3" name="Google Shape;803;p76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4" name="Google Shape;804;p76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5" name="Google Shape;805;p76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6" name="Google Shape;806;p76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7" name="Google Shape;807;p76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8" name="Google Shape;808;p76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09" name="Google Shape;809;p76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0" name="Google Shape;810;p76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1" name="Google Shape;811;p76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2" name="Google Shape;812;p76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3" name="Google Shape;813;p76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4" name="Google Shape;814;p76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815" name="Google Shape;815;p76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816" name="Google Shape;816;p76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9" name="Google Shape;819;p77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0" name="Google Shape;820;p77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67.xml"/><Relationship Id="rId2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68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615" name="Google Shape;615;p47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16" name="Google Shape;61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med.upenn.edu/pmi/events/https-www-sciencedirect-com-science-article-abs-pii-s1047847720300046-via-3dihub" TargetMode="External"/><Relationship Id="rId4" Type="http://schemas.openxmlformats.org/officeDocument/2006/relationships/hyperlink" Target="http://arxiv.org/pdf/1909.05192" TargetMode="External"/><Relationship Id="rId5" Type="http://schemas.openxmlformats.org/officeDocument/2006/relationships/hyperlink" Target="https://link.springer.com/article/10.1007/s40558-024-00300-4" TargetMode="External"/><Relationship Id="rId6" Type="http://schemas.openxmlformats.org/officeDocument/2006/relationships/hyperlink" Target="https://www.statista.com/statistics/1247955/gta-v-unit-sales-worldwide-total/#statisticContainer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8"/>
          <p:cNvSpPr txBox="1"/>
          <p:nvPr>
            <p:ph idx="4" type="body"/>
          </p:nvPr>
        </p:nvSpPr>
        <p:spPr>
          <a:xfrm>
            <a:off x="7423000" y="196725"/>
            <a:ext cx="15984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December 8, 2025</a:t>
            </a:r>
            <a:endParaRPr sz="1000"/>
          </a:p>
        </p:txBody>
      </p:sp>
      <p:sp>
        <p:nvSpPr>
          <p:cNvPr id="826" name="Google Shape;826;p78"/>
          <p:cNvSpPr txBox="1"/>
          <p:nvPr>
            <p:ph type="ctrTitle"/>
          </p:nvPr>
        </p:nvSpPr>
        <p:spPr>
          <a:xfrm>
            <a:off x="196950" y="351225"/>
            <a:ext cx="87501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R Analysis of</a:t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400"/>
              <a:t>Grand Data Auto: Vice City</a:t>
            </a:r>
            <a:endParaRPr i="1" sz="5400"/>
          </a:p>
        </p:txBody>
      </p:sp>
      <p:sp>
        <p:nvSpPr>
          <p:cNvPr id="827" name="Google Shape;827;p78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Abrar Faruque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Brenda Soljic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Sam Lenet</a:t>
            </a:r>
            <a:endParaRPr sz="2000"/>
          </a:p>
        </p:txBody>
      </p:sp>
      <p:sp>
        <p:nvSpPr>
          <p:cNvPr id="828" name="Google Shape;828;p78"/>
          <p:cNvSpPr txBox="1"/>
          <p:nvPr>
            <p:ph idx="1" type="body"/>
          </p:nvPr>
        </p:nvSpPr>
        <p:spPr>
          <a:xfrm>
            <a:off x="196949" y="4737750"/>
            <a:ext cx="3808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BINF5003: DATA MINING, MODELING, AND BIOSTATISTICS</a:t>
            </a:r>
            <a:endParaRPr sz="1000"/>
          </a:p>
        </p:txBody>
      </p:sp>
      <p:pic>
        <p:nvPicPr>
          <p:cNvPr id="829" name="Google Shape;829;p78" title="6393945b9f29d.jp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720" l="9402" r="9402" t="3438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9"/>
          <p:cNvSpPr txBox="1"/>
          <p:nvPr>
            <p:ph idx="1" type="subTitle"/>
          </p:nvPr>
        </p:nvSpPr>
        <p:spPr>
          <a:xfrm>
            <a:off x="586350" y="1648200"/>
            <a:ext cx="7971300" cy="18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Video game success is strongly shaped by marketing and user perception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Steam reviews offer valuable insight into player behaviour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GTA: </a:t>
            </a:r>
            <a:r>
              <a:rPr lang="en" sz="1800"/>
              <a:t>Vice City provides a large dataset of user reviews and analysis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Our goal: identify behavioural groups based on engagement, writing effort, and platform activity</a:t>
            </a:r>
            <a:endParaRPr sz="1800"/>
          </a:p>
        </p:txBody>
      </p:sp>
      <p:sp>
        <p:nvSpPr>
          <p:cNvPr id="835" name="Google Shape;835;p79"/>
          <p:cNvSpPr txBox="1"/>
          <p:nvPr>
            <p:ph idx="2" type="body"/>
          </p:nvPr>
        </p:nvSpPr>
        <p:spPr>
          <a:xfrm>
            <a:off x="196950" y="196725"/>
            <a:ext cx="54411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/>
              <a:t>UNDERSTANDING STEAM REVIEWERS IN GTA: VICE CITY </a:t>
            </a:r>
            <a:endParaRPr b="1" sz="1500"/>
          </a:p>
        </p:txBody>
      </p:sp>
      <p:sp>
        <p:nvSpPr>
          <p:cNvPr id="836" name="Google Shape;836;p79"/>
          <p:cNvSpPr txBox="1"/>
          <p:nvPr>
            <p:ph idx="3" type="body"/>
          </p:nvPr>
        </p:nvSpPr>
        <p:spPr>
          <a:xfrm>
            <a:off x="6278300" y="196725"/>
            <a:ext cx="2742600" cy="28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000"/>
              <a:t>R Analysis of </a:t>
            </a:r>
            <a:r>
              <a:rPr i="1" lang="en" sz="1000"/>
              <a:t>Grand Data Auto: Vice City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0"/>
          <p:cNvSpPr txBox="1"/>
          <p:nvPr>
            <p:ph idx="1" type="subTitle"/>
          </p:nvPr>
        </p:nvSpPr>
        <p:spPr>
          <a:xfrm>
            <a:off x="975300" y="1867500"/>
            <a:ext cx="7193400" cy="14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/>
              <a:t>What are characteristic behaviours in individuals who play Grand Theft Auto: Vice City, based on their reviews?</a:t>
            </a:r>
            <a:endParaRPr i="1"/>
          </a:p>
        </p:txBody>
      </p:sp>
      <p:sp>
        <p:nvSpPr>
          <p:cNvPr id="842" name="Google Shape;842;p80"/>
          <p:cNvSpPr txBox="1"/>
          <p:nvPr>
            <p:ph idx="2" type="body"/>
          </p:nvPr>
        </p:nvSpPr>
        <p:spPr>
          <a:xfrm>
            <a:off x="196949" y="196725"/>
            <a:ext cx="32088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RESEARCH QUESTION</a:t>
            </a:r>
            <a:endParaRPr b="1" sz="1600"/>
          </a:p>
        </p:txBody>
      </p:sp>
      <p:sp>
        <p:nvSpPr>
          <p:cNvPr id="843" name="Google Shape;843;p80"/>
          <p:cNvSpPr txBox="1"/>
          <p:nvPr>
            <p:ph idx="3" type="body"/>
          </p:nvPr>
        </p:nvSpPr>
        <p:spPr>
          <a:xfrm>
            <a:off x="6418650" y="196725"/>
            <a:ext cx="2602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R Analysis of </a:t>
            </a:r>
            <a:r>
              <a:rPr i="1" lang="en" sz="1000"/>
              <a:t>Grand Data Auto: Vice City</a:t>
            </a:r>
            <a:endParaRPr i="1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1"/>
          <p:cNvSpPr txBox="1"/>
          <p:nvPr>
            <p:ph idx="1" type="subTitle"/>
          </p:nvPr>
        </p:nvSpPr>
        <p:spPr>
          <a:xfrm>
            <a:off x="1101950" y="775975"/>
            <a:ext cx="69399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The </a:t>
            </a:r>
            <a:r>
              <a:rPr i="1" lang="en" sz="1800"/>
              <a:t>Grand Data Auto Vice City </a:t>
            </a:r>
            <a:r>
              <a:rPr lang="en" sz="1800"/>
              <a:t>dataset examines the reviews from the popular video game </a:t>
            </a:r>
            <a:r>
              <a:rPr i="1" lang="en" sz="1800"/>
              <a:t>Grand Theft Auto: Vice City</a:t>
            </a:r>
            <a:r>
              <a:rPr lang="en" sz="1800"/>
              <a:t>, with variables including:</a:t>
            </a:r>
            <a:endParaRPr sz="1400"/>
          </a:p>
        </p:txBody>
      </p:sp>
      <p:sp>
        <p:nvSpPr>
          <p:cNvPr id="849" name="Google Shape;849;p81"/>
          <p:cNvSpPr txBox="1"/>
          <p:nvPr>
            <p:ph idx="2" type="body"/>
          </p:nvPr>
        </p:nvSpPr>
        <p:spPr>
          <a:xfrm>
            <a:off x="197375" y="249200"/>
            <a:ext cx="34560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BACKGROUND</a:t>
            </a:r>
            <a:r>
              <a:rPr b="1" lang="en" sz="1600"/>
              <a:t> | INTRODUCTION</a:t>
            </a:r>
            <a:endParaRPr b="1" sz="1600"/>
          </a:p>
        </p:txBody>
      </p:sp>
      <p:sp>
        <p:nvSpPr>
          <p:cNvPr id="850" name="Google Shape;850;p81"/>
          <p:cNvSpPr txBox="1"/>
          <p:nvPr>
            <p:ph idx="3" type="body"/>
          </p:nvPr>
        </p:nvSpPr>
        <p:spPr>
          <a:xfrm>
            <a:off x="6418650" y="249200"/>
            <a:ext cx="2602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R Analysis of </a:t>
            </a:r>
            <a:r>
              <a:rPr i="1" lang="en" sz="1000"/>
              <a:t>Grand Data Auto: Vice City</a:t>
            </a:r>
            <a:endParaRPr i="1" sz="1000"/>
          </a:p>
        </p:txBody>
      </p:sp>
      <p:graphicFrame>
        <p:nvGraphicFramePr>
          <p:cNvPr id="851" name="Google Shape;851;p81"/>
          <p:cNvGraphicFramePr/>
          <p:nvPr/>
        </p:nvGraphicFramePr>
        <p:xfrm>
          <a:off x="1102000" y="185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{559292EE-F71B-4732-8EF2-EC0AAC3D2C31}</a:tableStyleId>
              </a:tblPr>
              <a:tblGrid>
                <a:gridCol w="2464750"/>
                <a:gridCol w="4475250"/>
              </a:tblGrid>
              <a:tr h="1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 digit code for each player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8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Review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 content of the review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Voted Up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= positive review; FALSE = negative review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7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Votes_Up and Comment_Count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Capture community interaction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Author Playtime Metrics (minutes)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Playtime_forever - total lifetime playtime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Playtime_last_two_weeks - recent activity level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Playtime_at_review - playtime at the moment the review was posted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Values reflect data as of February 2025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82"/>
          <p:cNvSpPr txBox="1"/>
          <p:nvPr>
            <p:ph idx="2" type="body"/>
          </p:nvPr>
        </p:nvSpPr>
        <p:spPr>
          <a:xfrm>
            <a:off x="196950" y="196725"/>
            <a:ext cx="33300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VARIABLE SUMMARY</a:t>
            </a:r>
            <a:endParaRPr b="1" sz="1600"/>
          </a:p>
        </p:txBody>
      </p:sp>
      <p:sp>
        <p:nvSpPr>
          <p:cNvPr id="857" name="Google Shape;857;p82"/>
          <p:cNvSpPr txBox="1"/>
          <p:nvPr/>
        </p:nvSpPr>
        <p:spPr>
          <a:xfrm>
            <a:off x="6011925" y="1319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 Analysis of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Grand Data Auto: Vice City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58" name="Google Shape;85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1065"/>
            <a:ext cx="9144003" cy="1451069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82"/>
          <p:cNvSpPr txBox="1"/>
          <p:nvPr>
            <p:ph idx="1" type="subTitle"/>
          </p:nvPr>
        </p:nvSpPr>
        <p:spPr>
          <a:xfrm>
            <a:off x="1220550" y="3386475"/>
            <a:ext cx="6702900" cy="129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 correlation in Word count versus Unique word count, Play time at review and Playtime Forever (highlighted)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All other variables show weak correlation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3"/>
          <p:cNvSpPr txBox="1"/>
          <p:nvPr>
            <p:ph type="title"/>
          </p:nvPr>
        </p:nvSpPr>
        <p:spPr>
          <a:xfrm>
            <a:off x="197375" y="1091450"/>
            <a:ext cx="3996900" cy="30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/>
              <a:t>Figure 1:</a:t>
            </a:r>
            <a:endParaRPr sz="1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FF9900"/>
                </a:solidFill>
              </a:rPr>
              <a:t>Orange(subgroup 1)</a:t>
            </a:r>
            <a:r>
              <a:rPr lang="en" sz="1300"/>
              <a:t>: </a:t>
            </a:r>
            <a:r>
              <a:rPr b="0" lang="en" sz="1300"/>
              <a:t>&lt;1000 words and &lt;100 unique words</a:t>
            </a:r>
            <a:endParaRPr b="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0000FF"/>
                </a:solidFill>
              </a:rPr>
              <a:t>Blue(subgroup 2)</a:t>
            </a:r>
            <a:r>
              <a:rPr lang="en" sz="1300"/>
              <a:t>: </a:t>
            </a:r>
            <a:r>
              <a:rPr b="0" lang="en" sz="1300"/>
              <a:t>1-500 words and &lt;1000 unique words</a:t>
            </a:r>
            <a:endParaRPr b="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93C47D"/>
                </a:solidFill>
              </a:rPr>
              <a:t>Green(subgroup 3)</a:t>
            </a:r>
            <a:r>
              <a:rPr lang="en" sz="1300"/>
              <a:t>: </a:t>
            </a:r>
            <a:r>
              <a:rPr b="0" lang="en" sz="1300"/>
              <a:t>≥1000 words and &gt;500 unique words</a:t>
            </a:r>
            <a:endParaRPr b="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FF0000"/>
                </a:solidFill>
              </a:rPr>
              <a:t>Red(subgroup 4)</a:t>
            </a:r>
            <a:r>
              <a:rPr lang="en" sz="1300"/>
              <a:t>: </a:t>
            </a:r>
            <a:r>
              <a:rPr b="0" lang="en" sz="1300"/>
              <a:t>&gt;1000 words and &lt;500 unique words</a:t>
            </a:r>
            <a:endParaRPr b="0"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Overall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0" lang="en" sz="1300"/>
              <a:t>No significant pattern </a:t>
            </a:r>
            <a:r>
              <a:rPr b="0" lang="en" sz="1300"/>
              <a:t>between</a:t>
            </a:r>
            <a:r>
              <a:rPr b="0" lang="en" sz="1300"/>
              <a:t> positive or negative (TRUE or FALSE) review in any subgroup</a:t>
            </a:r>
            <a:endParaRPr b="0" sz="1300"/>
          </a:p>
        </p:txBody>
      </p:sp>
      <p:sp>
        <p:nvSpPr>
          <p:cNvPr id="865" name="Google Shape;865;p83"/>
          <p:cNvSpPr txBox="1"/>
          <p:nvPr>
            <p:ph idx="2" type="body"/>
          </p:nvPr>
        </p:nvSpPr>
        <p:spPr>
          <a:xfrm>
            <a:off x="77025" y="196725"/>
            <a:ext cx="4632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/>
              <a:t>DETERMINING EFFORT</a:t>
            </a:r>
            <a:endParaRPr b="1" sz="1400"/>
          </a:p>
        </p:txBody>
      </p:sp>
      <p:sp>
        <p:nvSpPr>
          <p:cNvPr id="866" name="Google Shape;866;p83"/>
          <p:cNvSpPr txBox="1"/>
          <p:nvPr>
            <p:ph idx="3" type="body"/>
          </p:nvPr>
        </p:nvSpPr>
        <p:spPr>
          <a:xfrm>
            <a:off x="6043050" y="196725"/>
            <a:ext cx="2978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R Analysis of </a:t>
            </a:r>
            <a:r>
              <a:rPr i="1" lang="en" sz="1000"/>
              <a:t>Grand Theft Auto: Vice City</a:t>
            </a:r>
            <a:endParaRPr i="1" sz="1000"/>
          </a:p>
        </p:txBody>
      </p:sp>
      <p:sp>
        <p:nvSpPr>
          <p:cNvPr id="867" name="Google Shape;867;p83"/>
          <p:cNvSpPr txBox="1"/>
          <p:nvPr>
            <p:ph idx="2" type="body"/>
          </p:nvPr>
        </p:nvSpPr>
        <p:spPr>
          <a:xfrm>
            <a:off x="4434025" y="975950"/>
            <a:ext cx="4632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WORD COUNT VS UNIQUE WORD COUNT</a:t>
            </a:r>
            <a:endParaRPr b="1" sz="1400">
              <a:solidFill>
                <a:schemeClr val="lt1"/>
              </a:solidFill>
            </a:endParaRPr>
          </a:p>
        </p:txBody>
      </p:sp>
      <p:pic>
        <p:nvPicPr>
          <p:cNvPr id="868" name="Google Shape;868;p83"/>
          <p:cNvPicPr preferRelativeResize="0"/>
          <p:nvPr/>
        </p:nvPicPr>
        <p:blipFill rotWithShape="1">
          <a:blip r:embed="rId3">
            <a:alphaModFix/>
          </a:blip>
          <a:srcRect b="0" l="0" r="0" t="1700"/>
          <a:stretch/>
        </p:blipFill>
        <p:spPr>
          <a:xfrm>
            <a:off x="4663475" y="1311800"/>
            <a:ext cx="4283150" cy="24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757" y="1372901"/>
            <a:ext cx="4039450" cy="249228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83"/>
          <p:cNvSpPr/>
          <p:nvPr/>
        </p:nvSpPr>
        <p:spPr>
          <a:xfrm>
            <a:off x="6768762" y="2902503"/>
            <a:ext cx="1723500" cy="771300"/>
          </a:xfrm>
          <a:prstGeom prst="flowChartConnector">
            <a:avLst/>
          </a:prstGeom>
          <a:noFill/>
          <a:ln cap="flat" cmpd="sng" w="194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sp>
        <p:nvSpPr>
          <p:cNvPr id="871" name="Google Shape;871;p83"/>
          <p:cNvSpPr/>
          <p:nvPr/>
        </p:nvSpPr>
        <p:spPr>
          <a:xfrm>
            <a:off x="6407386" y="2186033"/>
            <a:ext cx="1188300" cy="771300"/>
          </a:xfrm>
          <a:prstGeom prst="flowChartConnector">
            <a:avLst/>
          </a:prstGeom>
          <a:noFill/>
          <a:ln cap="flat" cmpd="sng" w="194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sp>
        <p:nvSpPr>
          <p:cNvPr id="872" name="Google Shape;872;p83"/>
          <p:cNvSpPr/>
          <p:nvPr/>
        </p:nvSpPr>
        <p:spPr>
          <a:xfrm rot="-1609262">
            <a:off x="4797466" y="2849986"/>
            <a:ext cx="1831760" cy="466763"/>
          </a:xfrm>
          <a:prstGeom prst="flowChartConnector">
            <a:avLst/>
          </a:prstGeom>
          <a:noFill/>
          <a:ln cap="flat" cmpd="sng" w="194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sp>
        <p:nvSpPr>
          <p:cNvPr id="873" name="Google Shape;873;p83"/>
          <p:cNvSpPr/>
          <p:nvPr/>
        </p:nvSpPr>
        <p:spPr>
          <a:xfrm>
            <a:off x="5038305" y="3340341"/>
            <a:ext cx="1536900" cy="291600"/>
          </a:xfrm>
          <a:prstGeom prst="flowChartConnector">
            <a:avLst/>
          </a:prstGeom>
          <a:noFill/>
          <a:ln cap="flat" cmpd="sng" w="194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pic>
        <p:nvPicPr>
          <p:cNvPr id="874" name="Google Shape;874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1228482"/>
            <a:ext cx="4356650" cy="2686493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3"/>
          <p:cNvSpPr/>
          <p:nvPr/>
        </p:nvSpPr>
        <p:spPr>
          <a:xfrm>
            <a:off x="6392477" y="2902503"/>
            <a:ext cx="1723500" cy="771300"/>
          </a:xfrm>
          <a:prstGeom prst="flowChartConnector">
            <a:avLst/>
          </a:prstGeom>
          <a:noFill/>
          <a:ln cap="flat" cmpd="sng" w="194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sp>
        <p:nvSpPr>
          <p:cNvPr id="876" name="Google Shape;876;p83"/>
          <p:cNvSpPr/>
          <p:nvPr/>
        </p:nvSpPr>
        <p:spPr>
          <a:xfrm>
            <a:off x="6254503" y="2186033"/>
            <a:ext cx="1153500" cy="716400"/>
          </a:xfrm>
          <a:prstGeom prst="flowChartConnector">
            <a:avLst/>
          </a:prstGeom>
          <a:noFill/>
          <a:ln cap="flat" cmpd="sng" w="194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sp>
        <p:nvSpPr>
          <p:cNvPr id="877" name="Google Shape;877;p83"/>
          <p:cNvSpPr/>
          <p:nvPr/>
        </p:nvSpPr>
        <p:spPr>
          <a:xfrm rot="-1609262">
            <a:off x="4782557" y="2849986"/>
            <a:ext cx="1831760" cy="466763"/>
          </a:xfrm>
          <a:prstGeom prst="flowChartConnector">
            <a:avLst/>
          </a:prstGeom>
          <a:noFill/>
          <a:ln cap="flat" cmpd="sng" w="194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  <p:sp>
        <p:nvSpPr>
          <p:cNvPr id="878" name="Google Shape;878;p83"/>
          <p:cNvSpPr/>
          <p:nvPr/>
        </p:nvSpPr>
        <p:spPr>
          <a:xfrm>
            <a:off x="5023396" y="3340341"/>
            <a:ext cx="1536900" cy="291600"/>
          </a:xfrm>
          <a:prstGeom prst="flowChartConnector">
            <a:avLst/>
          </a:prstGeom>
          <a:noFill/>
          <a:ln cap="flat" cmpd="sng" w="194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150" lIns="62150" spcFirstLastPara="1" rIns="62150" wrap="square" tIns="62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84"/>
          <p:cNvSpPr txBox="1"/>
          <p:nvPr>
            <p:ph type="title"/>
          </p:nvPr>
        </p:nvSpPr>
        <p:spPr>
          <a:xfrm>
            <a:off x="220725" y="855763"/>
            <a:ext cx="3985500" cy="34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/>
              <a:t>Figure 2:</a:t>
            </a:r>
            <a:endParaRPr sz="1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Negative (voted_up = FALSE)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Follows a normal distribution </a:t>
            </a:r>
            <a:endParaRPr b="0"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Cluster of short, low-worded reviews</a:t>
            </a:r>
            <a:endParaRPr b="0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Positive (voted_up = TRUE)</a:t>
            </a:r>
            <a:endParaRPr sz="1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Does NOT follow a normal </a:t>
            </a:r>
            <a:r>
              <a:rPr b="0" lang="en" sz="1300"/>
              <a:t>distribution</a:t>
            </a:r>
            <a:r>
              <a:rPr b="0" lang="en" sz="1300"/>
              <a:t> until average Log</a:t>
            </a:r>
            <a:endParaRPr b="0"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Unique word count = 1, extremely common</a:t>
            </a:r>
            <a:endParaRPr b="0" sz="13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0" lang="en" sz="1300"/>
              <a:t>Single word reviews making up 32.95% of all pos </a:t>
            </a:r>
            <a:r>
              <a:rPr b="0" lang="en" sz="1300"/>
              <a:t>reviews</a:t>
            </a:r>
            <a:endParaRPr b="0" sz="1300"/>
          </a:p>
        </p:txBody>
      </p:sp>
      <p:sp>
        <p:nvSpPr>
          <p:cNvPr id="884" name="Google Shape;884;p84"/>
          <p:cNvSpPr txBox="1"/>
          <p:nvPr>
            <p:ph idx="2" type="body"/>
          </p:nvPr>
        </p:nvSpPr>
        <p:spPr>
          <a:xfrm>
            <a:off x="77025" y="196725"/>
            <a:ext cx="412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/>
              <a:t>DETERMINING EFFORT</a:t>
            </a:r>
            <a:endParaRPr b="1" sz="1400"/>
          </a:p>
        </p:txBody>
      </p:sp>
      <p:sp>
        <p:nvSpPr>
          <p:cNvPr id="885" name="Google Shape;885;p84"/>
          <p:cNvSpPr txBox="1"/>
          <p:nvPr>
            <p:ph idx="3" type="body"/>
          </p:nvPr>
        </p:nvSpPr>
        <p:spPr>
          <a:xfrm>
            <a:off x="6043050" y="196725"/>
            <a:ext cx="2978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R Analysis of </a:t>
            </a:r>
            <a:r>
              <a:rPr i="1" lang="en" sz="1000"/>
              <a:t>Grand Theft Auto: Vice City</a:t>
            </a:r>
            <a:endParaRPr i="1" sz="1000"/>
          </a:p>
        </p:txBody>
      </p:sp>
      <p:pic>
        <p:nvPicPr>
          <p:cNvPr id="886" name="Google Shape;886;p84"/>
          <p:cNvPicPr preferRelativeResize="0"/>
          <p:nvPr/>
        </p:nvPicPr>
        <p:blipFill rotWithShape="1">
          <a:blip r:embed="rId3">
            <a:alphaModFix/>
          </a:blip>
          <a:srcRect b="0" l="0" r="0" t="6681"/>
          <a:stretch/>
        </p:blipFill>
        <p:spPr>
          <a:xfrm>
            <a:off x="4487050" y="1277163"/>
            <a:ext cx="4497049" cy="25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4"/>
          <p:cNvSpPr txBox="1"/>
          <p:nvPr>
            <p:ph idx="2" type="body"/>
          </p:nvPr>
        </p:nvSpPr>
        <p:spPr>
          <a:xfrm>
            <a:off x="4670975" y="961200"/>
            <a:ext cx="412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LOG (UNIQUE WORD COUNT) VS VOTED UP</a:t>
            </a:r>
            <a:endParaRPr b="1"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85"/>
          <p:cNvSpPr txBox="1"/>
          <p:nvPr>
            <p:ph type="title"/>
          </p:nvPr>
        </p:nvSpPr>
        <p:spPr>
          <a:xfrm>
            <a:off x="271325" y="951600"/>
            <a:ext cx="3792300" cy="324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/>
              <a:t>Figure 3:</a:t>
            </a:r>
            <a:endParaRPr sz="13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Number of reviews (June 27, 2023 - Feb 1, 2024) split by voted_up TRUE vs FALSE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June-October 2023: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More negative (FALSE) reviews than positive (TRUE)</a:t>
            </a:r>
            <a:endParaRPr b="0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After October 2023: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Positive (TRUE) reviews become more frequent than negative (FALSE)</a:t>
            </a:r>
            <a:endParaRPr b="0"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December 2023 spike: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" sz="1300"/>
              <a:t>Review count more than </a:t>
            </a:r>
            <a:r>
              <a:rPr b="0" lang="en" sz="1300"/>
              <a:t>doubled</a:t>
            </a:r>
            <a:r>
              <a:rPr b="0" lang="en" sz="1300"/>
              <a:t> </a:t>
            </a:r>
            <a:r>
              <a:rPr b="0" lang="en" sz="1300"/>
              <a:t>compared</a:t>
            </a:r>
            <a:r>
              <a:rPr b="0" lang="en" sz="1300"/>
              <a:t> to November</a:t>
            </a:r>
            <a:endParaRPr b="0" sz="1300"/>
          </a:p>
        </p:txBody>
      </p:sp>
      <p:sp>
        <p:nvSpPr>
          <p:cNvPr id="893" name="Google Shape;893;p85"/>
          <p:cNvSpPr txBox="1"/>
          <p:nvPr>
            <p:ph idx="2" type="body"/>
          </p:nvPr>
        </p:nvSpPr>
        <p:spPr>
          <a:xfrm>
            <a:off x="77025" y="196725"/>
            <a:ext cx="4632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/>
              <a:t>DETERMINING EFFORT</a:t>
            </a:r>
            <a:endParaRPr b="1" sz="1400"/>
          </a:p>
        </p:txBody>
      </p:sp>
      <p:sp>
        <p:nvSpPr>
          <p:cNvPr id="894" name="Google Shape;894;p85"/>
          <p:cNvSpPr txBox="1"/>
          <p:nvPr>
            <p:ph idx="3" type="body"/>
          </p:nvPr>
        </p:nvSpPr>
        <p:spPr>
          <a:xfrm>
            <a:off x="6043050" y="196725"/>
            <a:ext cx="2978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R Analysis of </a:t>
            </a:r>
            <a:r>
              <a:rPr i="1" lang="en" sz="1000"/>
              <a:t>Grand Theft Auto: Vice City</a:t>
            </a:r>
            <a:endParaRPr i="1" sz="1000"/>
          </a:p>
        </p:txBody>
      </p:sp>
      <p:pic>
        <p:nvPicPr>
          <p:cNvPr id="895" name="Google Shape;89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046" y="1184438"/>
            <a:ext cx="4497054" cy="2774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85"/>
          <p:cNvSpPr txBox="1"/>
          <p:nvPr>
            <p:ph idx="2" type="body"/>
          </p:nvPr>
        </p:nvSpPr>
        <p:spPr>
          <a:xfrm>
            <a:off x="4419275" y="872700"/>
            <a:ext cx="4632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lt1"/>
                </a:solidFill>
              </a:rPr>
              <a:t>DISTRIBUTION OF REVIEWS AND TIME</a:t>
            </a:r>
            <a:endParaRPr b="1" sz="1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86"/>
          <p:cNvSpPr txBox="1"/>
          <p:nvPr>
            <p:ph idx="1" type="subTitle"/>
          </p:nvPr>
        </p:nvSpPr>
        <p:spPr>
          <a:xfrm>
            <a:off x="1254150" y="1879050"/>
            <a:ext cx="6635700" cy="13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Determining Effort</a:t>
            </a:r>
            <a:endParaRPr b="1"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No formal “effort” metric, but higher </a:t>
            </a:r>
            <a:r>
              <a:rPr lang="en" sz="1600"/>
              <a:t>world</a:t>
            </a:r>
            <a:r>
              <a:rPr lang="en" sz="1600"/>
              <a:t> count + more unique words = higher effort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Word count and unique word count are strongly correlated</a:t>
            </a:r>
            <a:endParaRPr sz="2300"/>
          </a:p>
        </p:txBody>
      </p:sp>
      <p:sp>
        <p:nvSpPr>
          <p:cNvPr id="902" name="Google Shape;902;p86"/>
          <p:cNvSpPr txBox="1"/>
          <p:nvPr>
            <p:ph idx="2" type="body"/>
          </p:nvPr>
        </p:nvSpPr>
        <p:spPr>
          <a:xfrm>
            <a:off x="196950" y="196725"/>
            <a:ext cx="3489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DISCUSSION &amp; CONCLUSION</a:t>
            </a:r>
            <a:endParaRPr b="1" sz="1600"/>
          </a:p>
        </p:txBody>
      </p:sp>
      <p:sp>
        <p:nvSpPr>
          <p:cNvPr id="903" name="Google Shape;903;p86"/>
          <p:cNvSpPr txBox="1"/>
          <p:nvPr/>
        </p:nvSpPr>
        <p:spPr>
          <a:xfrm>
            <a:off x="6011925" y="1319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 Analysis of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Grand Data Auto: Vice City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7"/>
          <p:cNvSpPr txBox="1"/>
          <p:nvPr>
            <p:ph idx="1" type="subTitle"/>
          </p:nvPr>
        </p:nvSpPr>
        <p:spPr>
          <a:xfrm>
            <a:off x="848550" y="857275"/>
            <a:ext cx="7446900" cy="335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Cluster Characteristics</a:t>
            </a:r>
            <a:endParaRPr b="1"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Subgroups 2 &amp; 3: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Most reviews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Roughly 2:1 ratio of total words to unique words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Brief to moderately expressive reviews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Subgroups 1 &amp; 4: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Smaller groups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Low unique word diversity relative to length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Many contained repeated words/phrases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Effort does NOT predict voted_up outcome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 correlation between writing effort and positive vs negative reviews</a:t>
            </a:r>
            <a:endParaRPr sz="1800"/>
          </a:p>
        </p:txBody>
      </p:sp>
      <p:sp>
        <p:nvSpPr>
          <p:cNvPr id="909" name="Google Shape;909;p87"/>
          <p:cNvSpPr txBox="1"/>
          <p:nvPr>
            <p:ph idx="2" type="body"/>
          </p:nvPr>
        </p:nvSpPr>
        <p:spPr>
          <a:xfrm>
            <a:off x="196950" y="196725"/>
            <a:ext cx="3489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DISCUSSION &amp; CONCLUSION</a:t>
            </a:r>
            <a:endParaRPr b="1" sz="1600"/>
          </a:p>
        </p:txBody>
      </p:sp>
      <p:sp>
        <p:nvSpPr>
          <p:cNvPr id="910" name="Google Shape;910;p87"/>
          <p:cNvSpPr txBox="1"/>
          <p:nvPr/>
        </p:nvSpPr>
        <p:spPr>
          <a:xfrm>
            <a:off x="6011925" y="1319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 Analysis of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Grand Data Auto: Vice City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8"/>
          <p:cNvSpPr txBox="1"/>
          <p:nvPr>
            <p:ph idx="1" type="subTitle"/>
          </p:nvPr>
        </p:nvSpPr>
        <p:spPr>
          <a:xfrm>
            <a:off x="1122600" y="1386600"/>
            <a:ext cx="6898800" cy="23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Reviewer Behaviour Trends</a:t>
            </a:r>
            <a:endParaRPr b="1"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Positive (TRUE) reviews: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Require less effort, extremely short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Negative (FALSE) reviews: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Longer, contain more unique words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Two reviewer archetypes emerge: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“Simpleton” - very short, positive feedback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“Critic” - longer, detailed negative feedback</a:t>
            </a:r>
            <a:endParaRPr sz="2300"/>
          </a:p>
        </p:txBody>
      </p:sp>
      <p:sp>
        <p:nvSpPr>
          <p:cNvPr id="916" name="Google Shape;916;p88"/>
          <p:cNvSpPr txBox="1"/>
          <p:nvPr>
            <p:ph idx="2" type="body"/>
          </p:nvPr>
        </p:nvSpPr>
        <p:spPr>
          <a:xfrm>
            <a:off x="196950" y="196725"/>
            <a:ext cx="3489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DISCUSSION &amp; CONCLUSION</a:t>
            </a:r>
            <a:endParaRPr b="1" sz="1600"/>
          </a:p>
        </p:txBody>
      </p:sp>
      <p:sp>
        <p:nvSpPr>
          <p:cNvPr id="917" name="Google Shape;917;p88"/>
          <p:cNvSpPr txBox="1"/>
          <p:nvPr/>
        </p:nvSpPr>
        <p:spPr>
          <a:xfrm>
            <a:off x="6011925" y="1319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 Analysis of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Grand Data Auto: Vice City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89"/>
          <p:cNvSpPr txBox="1"/>
          <p:nvPr>
            <p:ph idx="1" type="subTitle"/>
          </p:nvPr>
        </p:nvSpPr>
        <p:spPr>
          <a:xfrm>
            <a:off x="1186800" y="1509750"/>
            <a:ext cx="6770400" cy="212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000"/>
              <a:t>Influence of Canonical Events on Reviews</a:t>
            </a:r>
            <a:endParaRPr b="1"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June - November 2023: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Negative reviews outnumbered </a:t>
            </a:r>
            <a:r>
              <a:rPr lang="en" sz="1600"/>
              <a:t>positive</a:t>
            </a:r>
            <a:r>
              <a:rPr lang="en" sz="1600"/>
              <a:t> reviews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After December 2023: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Positive reviews became more common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Coincides with a major game </a:t>
            </a:r>
            <a:r>
              <a:rPr lang="en" sz="1600"/>
              <a:t>update</a:t>
            </a:r>
            <a:r>
              <a:rPr lang="en" sz="1600"/>
              <a:t> fixin serval issues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Aligns</a:t>
            </a:r>
            <a:r>
              <a:rPr lang="en" sz="1600"/>
              <a:t> with the GTA 6 </a:t>
            </a:r>
            <a:r>
              <a:rPr lang="en" sz="1600"/>
              <a:t>announcement</a:t>
            </a:r>
            <a:endParaRPr sz="1600"/>
          </a:p>
        </p:txBody>
      </p:sp>
      <p:sp>
        <p:nvSpPr>
          <p:cNvPr id="923" name="Google Shape;923;p89"/>
          <p:cNvSpPr txBox="1"/>
          <p:nvPr>
            <p:ph idx="2" type="body"/>
          </p:nvPr>
        </p:nvSpPr>
        <p:spPr>
          <a:xfrm>
            <a:off x="196950" y="196725"/>
            <a:ext cx="3489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DISCUSSION &amp; CONCLUSION</a:t>
            </a:r>
            <a:endParaRPr b="1" sz="1600"/>
          </a:p>
        </p:txBody>
      </p:sp>
      <p:sp>
        <p:nvSpPr>
          <p:cNvPr id="924" name="Google Shape;924;p89"/>
          <p:cNvSpPr txBox="1"/>
          <p:nvPr/>
        </p:nvSpPr>
        <p:spPr>
          <a:xfrm>
            <a:off x="6011925" y="1319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 Analysis of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Grand Data Auto: Vice City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90"/>
          <p:cNvSpPr txBox="1"/>
          <p:nvPr>
            <p:ph idx="1" type="subTitle"/>
          </p:nvPr>
        </p:nvSpPr>
        <p:spPr>
          <a:xfrm>
            <a:off x="1061100" y="1879050"/>
            <a:ext cx="7021800" cy="13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Timing and Playing Relationship</a:t>
            </a:r>
            <a:endParaRPr b="1" sz="20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" sz="1600"/>
              <a:t>No significant correlation between: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When players bought the game (author_plaaytime_forever)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When they wrote their review (author_playtime_at_review)</a:t>
            </a:r>
            <a:endParaRPr sz="1600"/>
          </a:p>
        </p:txBody>
      </p:sp>
      <p:sp>
        <p:nvSpPr>
          <p:cNvPr id="930" name="Google Shape;930;p90"/>
          <p:cNvSpPr txBox="1"/>
          <p:nvPr>
            <p:ph idx="2" type="body"/>
          </p:nvPr>
        </p:nvSpPr>
        <p:spPr>
          <a:xfrm>
            <a:off x="196950" y="196725"/>
            <a:ext cx="3489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/>
              <a:t>DISCUSSION &amp; CONCLUSION</a:t>
            </a:r>
            <a:endParaRPr b="1" sz="1600"/>
          </a:p>
        </p:txBody>
      </p:sp>
      <p:sp>
        <p:nvSpPr>
          <p:cNvPr id="931" name="Google Shape;931;p90"/>
          <p:cNvSpPr txBox="1"/>
          <p:nvPr/>
        </p:nvSpPr>
        <p:spPr>
          <a:xfrm>
            <a:off x="6011925" y="1319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 Analysis of </a:t>
            </a: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Grand Data Auto: Vice City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91"/>
          <p:cNvSpPr txBox="1"/>
          <p:nvPr>
            <p:ph idx="3" type="body"/>
          </p:nvPr>
        </p:nvSpPr>
        <p:spPr>
          <a:xfrm>
            <a:off x="436050" y="769550"/>
            <a:ext cx="8271900" cy="41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Guzsvinecz, T., &amp; Szűcs, J. (2023, December). </a:t>
            </a:r>
            <a:r>
              <a:rPr i="1"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Length and sentiment analysis of reviews about top-level video game genres on the steam platform</a:t>
            </a: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. ELSEVIER.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https://www.med.upenn.edu/pmi/events/https-www-sciencedirect-com-science-article-abs-pii-s1047847720300046-via-3dihub</a:t>
            </a:r>
            <a:endParaRPr sz="12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Lutz, B., Prollochs, N., &amp; Neumann, D. (2019, September). </a:t>
            </a:r>
            <a:r>
              <a:rPr i="1"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The Longer the Better? The Interplay Between Review Length and Line of Argumentation in Online Consumer Reviews</a:t>
            </a: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. arXiv.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http://arxiv.org/pdf/1909.05192</a:t>
            </a:r>
            <a:endParaRPr sz="12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Mellinas, J. P., &amp; Leoni, V. (2024, September). </a:t>
            </a:r>
            <a:r>
              <a:rPr i="1"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Beyond words: unveiling the implications of blank reviews in online rating systems</a:t>
            </a: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. SpringerLink.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5"/>
              </a:rPr>
              <a:t>https://link.springer.com/article/10.1007/s40558-024-00300-4</a:t>
            </a:r>
            <a:endParaRPr sz="12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Statista. (2025, August). </a:t>
            </a:r>
            <a:r>
              <a:rPr i="1"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Grand Theft Auto V Total Unit Sales 2025</a:t>
            </a: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. Statista. </a:t>
            </a:r>
            <a:r>
              <a:rPr lang="en" sz="1200">
                <a:solidFill>
                  <a:schemeClr val="hlink"/>
                </a:solidFill>
                <a:uFill>
                  <a:noFill/>
                </a:uFill>
                <a:latin typeface="Merriweather"/>
                <a:ea typeface="Merriweather"/>
                <a:cs typeface="Merriweather"/>
                <a:sym typeface="Merriweather"/>
                <a:hlinkClick r:id="rId6"/>
              </a:rPr>
              <a:t>https://www.statista.com/statistics/1247955/gta-v-unit-sales-worldwide-total/#statisticContainer</a:t>
            </a:r>
            <a:endParaRPr sz="1200">
              <a:solidFill>
                <a:schemeClr val="hlink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Zhong, X., &amp; Xu, J. (2022, June). </a:t>
            </a:r>
            <a:r>
              <a:rPr i="1"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Measuring the effect of game updates on player engagement: A cue from DOTA2</a:t>
            </a:r>
            <a:r>
              <a:rPr lang="en" sz="12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. Research Gate. https://www.researchgate.net/publication/361091263_Measuring_the_effect_of_game_updates_on_player_engagement_A_cue_from_DOTA2</a:t>
            </a:r>
            <a:r>
              <a:rPr lang="en" sz="1300">
                <a:solidFill>
                  <a:schemeClr val="hlink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/>
          </a:p>
        </p:txBody>
      </p:sp>
      <p:sp>
        <p:nvSpPr>
          <p:cNvPr id="937" name="Google Shape;937;p91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REFERENCES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938" name="Google Shape;938;p91"/>
          <p:cNvSpPr txBox="1"/>
          <p:nvPr>
            <p:ph idx="32" type="body"/>
          </p:nvPr>
        </p:nvSpPr>
        <p:spPr>
          <a:xfrm>
            <a:off x="6345275" y="196725"/>
            <a:ext cx="26757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R Analysis of </a:t>
            </a:r>
            <a:r>
              <a:rPr i="1" lang="en" sz="1000"/>
              <a:t>Grand Theft Auto: Vice City </a:t>
            </a:r>
            <a:endParaRPr i="1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2"/>
          <p:cNvSpPr txBox="1"/>
          <p:nvPr>
            <p:ph idx="1" type="subTitle"/>
          </p:nvPr>
        </p:nvSpPr>
        <p:spPr>
          <a:xfrm>
            <a:off x="2579950" y="1678700"/>
            <a:ext cx="37986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/>
              <a:t>Thank you</a:t>
            </a:r>
            <a:endParaRPr sz="5000"/>
          </a:p>
        </p:txBody>
      </p:sp>
      <p:sp>
        <p:nvSpPr>
          <p:cNvPr id="944" name="Google Shape;944;p92"/>
          <p:cNvSpPr txBox="1"/>
          <p:nvPr>
            <p:ph idx="1" type="subTitle"/>
          </p:nvPr>
        </p:nvSpPr>
        <p:spPr>
          <a:xfrm>
            <a:off x="3693700" y="2571750"/>
            <a:ext cx="1571100" cy="4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/>
              <a:t>Questions?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